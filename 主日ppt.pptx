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64" r:id="rId2"/>
    <p:sldId id="268" r:id="rId3"/>
    <p:sldId id="259" r:id="rId4"/>
    <p:sldId id="269" r:id="rId5"/>
    <p:sldId id="261" r:id="rId6"/>
    <p:sldId id="263" r:id="rId7"/>
    <p:sldId id="270" r:id="rId8"/>
    <p:sldId id="267" r:id="rId9"/>
    <p:sldId id="271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国莲 周" initials="国周" lastIdx="1" clrIdx="0">
    <p:extLst>
      <p:ext uri="{19B8F6BF-5375-455C-9EA6-DF929625EA0E}">
        <p15:presenceInfo xmlns:p15="http://schemas.microsoft.com/office/powerpoint/2012/main" userId="ee44e7d91328109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commentAuthors" Target="commentAuthors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D5C35-34B4-A6E0-3F89-96BCF644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583" y="681945"/>
            <a:ext cx="7729728" cy="1188720"/>
          </a:xfrm>
        </p:spPr>
        <p:txBody>
          <a:bodyPr/>
          <a:lstStyle/>
          <a:p>
            <a:r>
              <a:rPr lang="zh-CN" altLang="en-US"/>
              <a:t>好机会，别错过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219F-9583-EDA0-AD3A-2F93A4444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440" y="3273338"/>
            <a:ext cx="10620561" cy="650813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马太福音：</a:t>
            </a:r>
            <a:r>
              <a:rPr lang="en-US" altLang="zh-CN" sz="2400"/>
              <a:t>22</a:t>
            </a:r>
            <a:r>
              <a:rPr lang="zh-CN" altLang="en-US" sz="2400"/>
              <a:t>：</a:t>
            </a:r>
            <a:r>
              <a:rPr lang="en-US" altLang="zh-CN" sz="2400"/>
              <a:t>1-14</a:t>
            </a:r>
          </a:p>
          <a:p>
            <a:pPr marL="0" indent="0">
              <a:buNone/>
            </a:pPr>
            <a:r>
              <a:rPr lang="zh-CN" altLang="en-US" sz="2400"/>
              <a:t>分享：周国莲姐妹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2608717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A9A11-F4F3-7B33-CE55-2EE1E791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17688" y="406790"/>
            <a:ext cx="7729728" cy="1188720"/>
          </a:xfrm>
        </p:spPr>
        <p:txBody>
          <a:bodyPr/>
          <a:lstStyle/>
          <a:p>
            <a:r>
              <a:rPr lang="zh-CN" altLang="en-US"/>
              <a:t>引言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2A8C4F-2150-5E41-1ED2-5A165D923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248" y="1701110"/>
            <a:ext cx="7729728" cy="3101983"/>
          </a:xfrm>
        </p:spPr>
        <p:txBody>
          <a:bodyPr>
            <a:normAutofit/>
          </a:bodyPr>
          <a:lstStyle/>
          <a:p>
            <a:r>
              <a:rPr lang="zh-CN" altLang="en-US" sz="2400" b="1" u="sng"/>
              <a:t>在我们的人生中，最遗憾的不是没有把握机会，而是错过了机会。</a:t>
            </a:r>
            <a:endParaRPr lang="en-US" altLang="zh-CN" sz="2400" b="1" u="sng"/>
          </a:p>
          <a:p>
            <a:r>
              <a:rPr lang="zh-CN" altLang="en-US" sz="2400" b="1" u="sng"/>
              <a:t>中国话：机不可失，时不再来</a:t>
            </a:r>
            <a:endParaRPr lang="en-US" altLang="zh-CN" sz="2400" b="1" u="sng"/>
          </a:p>
        </p:txBody>
      </p:sp>
    </p:spTree>
    <p:extLst>
      <p:ext uri="{BB962C8B-B14F-4D97-AF65-F5344CB8AC3E}">
        <p14:creationId xmlns:p14="http://schemas.microsoft.com/office/powerpoint/2010/main" val="202380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A8E73-6269-5561-8E80-430A30F3D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45440" y="523613"/>
            <a:ext cx="7729728" cy="1188720"/>
          </a:xfrm>
        </p:spPr>
        <p:txBody>
          <a:bodyPr/>
          <a:lstStyle/>
          <a:p>
            <a:r>
              <a:rPr lang="zh-CN" altLang="en-US"/>
              <a:t>一，神有预备，不要错过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B8AF283-61B7-8A08-44EF-0B326805E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8" y="2003538"/>
            <a:ext cx="9610996" cy="31019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altLang="zh-CN" sz="2400" b="1"/>
          </a:p>
          <a:p>
            <a:r>
              <a:rPr lang="en-US" altLang="zh-CN" sz="2400" b="1"/>
              <a:t>1,</a:t>
            </a:r>
            <a:r>
              <a:rPr lang="zh-CN" altLang="en-US" sz="2400" b="1"/>
              <a:t>耶稣又用比喻对他们说：</a:t>
            </a:r>
            <a:endParaRPr lang="en-US" altLang="zh-CN" sz="2400" b="1"/>
          </a:p>
          <a:p>
            <a:r>
              <a:rPr lang="en-US" altLang="zh-CN" sz="2400" b="1"/>
              <a:t>2,</a:t>
            </a:r>
            <a:r>
              <a:rPr lang="zh-CN" altLang="en-US" sz="2400" b="1"/>
              <a:t>“天国好比一个王为他儿子摆设娶亲的筵席，</a:t>
            </a:r>
            <a:endParaRPr lang="en-US" altLang="zh-CN" sz="2400" b="1"/>
          </a:p>
          <a:p>
            <a:r>
              <a:rPr lang="en-US" altLang="zh-CN" sz="2400" b="1"/>
              <a:t>3,</a:t>
            </a:r>
            <a:r>
              <a:rPr lang="zh-CN" altLang="en-US" sz="2400" b="1"/>
              <a:t>就打发仆人去，请那些被召的人来赴席；他们却不肯来。</a:t>
            </a:r>
            <a:endParaRPr lang="en-US" altLang="zh-CN" sz="2400" b="1"/>
          </a:p>
          <a:p>
            <a:r>
              <a:rPr lang="en-US" altLang="zh-CN" sz="2400" b="1"/>
              <a:t>4,</a:t>
            </a:r>
            <a:r>
              <a:rPr lang="zh-CN" altLang="en-US" sz="2400" b="1"/>
              <a:t>王又打发别的仆人，说：“你们告诉那被召的人，我的筵席已经预</a:t>
            </a:r>
            <a:endParaRPr lang="en-US" altLang="zh-CN" sz="2400" b="1"/>
          </a:p>
          <a:p>
            <a:r>
              <a:rPr lang="zh-CN" altLang="en-US" sz="2400" b="1"/>
              <a:t>备好了，牛和肥畜已经宰了，各样都齐备，请你们来赴席。</a:t>
            </a:r>
            <a:endParaRPr lang="en-US" altLang="zh-CN" sz="2400" b="1"/>
          </a:p>
          <a:p>
            <a:endParaRPr lang="en-US" altLang="zh-CN" sz="2400" b="1"/>
          </a:p>
          <a:p>
            <a:r>
              <a:rPr lang="zh-CN" altLang="en-US" sz="2400" b="1"/>
              <a:t>神赐给我们救恩的机会。</a:t>
            </a:r>
          </a:p>
        </p:txBody>
      </p:sp>
    </p:spTree>
    <p:extLst>
      <p:ext uri="{BB962C8B-B14F-4D97-AF65-F5344CB8AC3E}">
        <p14:creationId xmlns:p14="http://schemas.microsoft.com/office/powerpoint/2010/main" val="237766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550C2A-95B4-FF71-7845-92B69134D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290" y="1063054"/>
            <a:ext cx="7729728" cy="310198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比喻：</a:t>
            </a:r>
            <a:endParaRPr lang="en-US" altLang="zh-CN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把创世以来所隐藏的事发明出来。（太</a:t>
            </a:r>
            <a:r>
              <a:rPr lang="en-US" altLang="zh-CN" sz="2400" b="1">
                <a:solidFill>
                  <a:schemeClr val="tx1"/>
                </a:solidFill>
              </a:rPr>
              <a:t>13</a:t>
            </a:r>
            <a:r>
              <a:rPr lang="zh-CN" altLang="en-US" sz="2400" b="1">
                <a:solidFill>
                  <a:schemeClr val="tx1"/>
                </a:solidFill>
              </a:rPr>
              <a:t>：</a:t>
            </a:r>
            <a:r>
              <a:rPr lang="en-US" altLang="zh-CN" sz="2400" b="1">
                <a:solidFill>
                  <a:schemeClr val="tx1"/>
                </a:solidFill>
              </a:rPr>
              <a:t>34</a:t>
            </a:r>
            <a:r>
              <a:rPr lang="zh-CN" altLang="en-US" sz="2400" b="1">
                <a:solidFill>
                  <a:schemeClr val="tx1"/>
                </a:solidFill>
              </a:rPr>
              <a:t>）</a:t>
            </a:r>
            <a:endParaRPr lang="en-US" altLang="zh-CN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惟有　神能照我所传的福音和所讲的耶稣基督，并照永古隐藏不言的奥秘，坚固你们的心。这奥秘如今显明出来，而且按着</a:t>
            </a:r>
            <a:endParaRPr lang="en-US" altLang="zh-CN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永生　神的命，藉众先知的书指示万国的民，使他们信服真道。</a:t>
            </a:r>
            <a:r>
              <a:rPr lang="en-US" altLang="zh-CN" sz="2400" b="1">
                <a:solidFill>
                  <a:schemeClr val="tx1"/>
                </a:solidFill>
              </a:rPr>
              <a:t>( </a:t>
            </a:r>
            <a:r>
              <a:rPr lang="zh-CN" altLang="en-US" sz="2400" b="1">
                <a:solidFill>
                  <a:schemeClr val="tx1"/>
                </a:solidFill>
              </a:rPr>
              <a:t>罗马书 </a:t>
            </a:r>
            <a:r>
              <a:rPr lang="en-US" altLang="zh-CN" sz="2400" b="1">
                <a:solidFill>
                  <a:schemeClr val="tx1"/>
                </a:solidFill>
              </a:rPr>
              <a:t>16:25-26</a:t>
            </a:r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endParaRPr lang="en-US" altLang="zh-CN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天国</a:t>
            </a:r>
            <a:endParaRPr lang="en-US" altLang="zh-CN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是上帝的国度，是神所居住的地方。</a:t>
            </a:r>
            <a:endParaRPr lang="en-US" altLang="zh-CN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筵席：</a:t>
            </a:r>
            <a:endParaRPr lang="en-US" altLang="zh-CN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赛</a:t>
            </a:r>
            <a:r>
              <a:rPr lang="en-US" altLang="zh-CN" sz="2400" b="1">
                <a:solidFill>
                  <a:schemeClr val="tx1"/>
                </a:solidFill>
              </a:rPr>
              <a:t>25</a:t>
            </a:r>
            <a:r>
              <a:rPr lang="zh-CN" altLang="en-US" sz="2400" b="1">
                <a:solidFill>
                  <a:schemeClr val="tx1"/>
                </a:solidFill>
              </a:rPr>
              <a:t>：</a:t>
            </a:r>
            <a:r>
              <a:rPr lang="en-US" altLang="zh-CN" sz="2400" b="1">
                <a:solidFill>
                  <a:schemeClr val="tx1"/>
                </a:solidFill>
              </a:rPr>
              <a:t>6</a:t>
            </a:r>
            <a:r>
              <a:rPr lang="zh-CN" altLang="en-US" sz="2400" b="1">
                <a:solidFill>
                  <a:schemeClr val="tx1"/>
                </a:solidFill>
              </a:rPr>
              <a:t>在这山上，万军之耶和华必为万民用肥甘设摆筵席，用陈酒和满髓的肥甘，并澄清的陈酒，设摆</a:t>
            </a:r>
            <a:endParaRPr lang="en-US" altLang="zh-CN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筵席。</a:t>
            </a:r>
            <a:r>
              <a:rPr lang="en-US" altLang="zh-CN" sz="2400" b="1">
                <a:solidFill>
                  <a:schemeClr val="tx1"/>
                </a:solidFill>
              </a:rPr>
              <a:t>( </a:t>
            </a:r>
            <a:r>
              <a:rPr lang="zh-CN" altLang="en-US" sz="2400" b="1">
                <a:solidFill>
                  <a:schemeClr val="tx1"/>
                </a:solidFill>
              </a:rPr>
              <a:t>以赛亚书 </a:t>
            </a:r>
            <a:r>
              <a:rPr lang="en-US" altLang="zh-CN" sz="2400" b="1">
                <a:solidFill>
                  <a:schemeClr val="tx1"/>
                </a:solidFill>
              </a:rPr>
              <a:t>25:6 </a:t>
            </a:r>
            <a:r>
              <a:rPr lang="zh-CN" altLang="en-US" sz="2400" b="1">
                <a:solidFill>
                  <a:schemeClr val="tx1"/>
                </a:solidFill>
              </a:rPr>
              <a:t>）</a:t>
            </a:r>
            <a:endParaRPr lang="en-US" altLang="zh-CN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箴言</a:t>
            </a:r>
            <a:r>
              <a:rPr lang="en-US" altLang="zh-CN" sz="2400" b="1">
                <a:solidFill>
                  <a:schemeClr val="tx1"/>
                </a:solidFill>
              </a:rPr>
              <a:t>9</a:t>
            </a:r>
            <a:r>
              <a:rPr lang="zh-CN" altLang="en-US" sz="2400" b="1">
                <a:solidFill>
                  <a:schemeClr val="tx1"/>
                </a:solidFill>
              </a:rPr>
              <a:t>：</a:t>
            </a:r>
            <a:r>
              <a:rPr lang="en-US" altLang="zh-CN" sz="2400" b="1">
                <a:solidFill>
                  <a:schemeClr val="tx1"/>
                </a:solidFill>
              </a:rPr>
              <a:t>5</a:t>
            </a:r>
            <a:r>
              <a:rPr lang="zh-CN" altLang="en-US" sz="2400" b="1">
                <a:solidFill>
                  <a:schemeClr val="tx1"/>
                </a:solidFill>
              </a:rPr>
              <a:t>你们来是我的饼喝我调和的酒。</a:t>
            </a:r>
          </a:p>
        </p:txBody>
      </p:sp>
    </p:spTree>
    <p:extLst>
      <p:ext uri="{BB962C8B-B14F-4D97-AF65-F5344CB8AC3E}">
        <p14:creationId xmlns:p14="http://schemas.microsoft.com/office/powerpoint/2010/main" val="1315224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44C5F-3ABA-5DB6-C6DF-5C0A7F7EB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46794" y="253095"/>
            <a:ext cx="9403448" cy="932897"/>
          </a:xfrm>
        </p:spPr>
        <p:txBody>
          <a:bodyPr/>
          <a:lstStyle/>
          <a:p>
            <a:r>
              <a:rPr lang="zh-CN" altLang="en-US"/>
              <a:t>二，心理刚硬，错失良机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477FE3-EF6A-6F43-95AB-D49DB413B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78008"/>
            <a:ext cx="7729728" cy="3101983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/>
              <a:t>5,</a:t>
            </a:r>
            <a:r>
              <a:rPr lang="zh-CN" altLang="en-US"/>
              <a:t>那些人不理就走了；一个到自己田里去；一个做买卖去；</a:t>
            </a:r>
            <a:endParaRPr lang="en-US" altLang="zh-CN"/>
          </a:p>
          <a:p>
            <a:r>
              <a:rPr lang="en-US" altLang="zh-CN"/>
              <a:t>6,</a:t>
            </a:r>
            <a:r>
              <a:rPr lang="zh-CN" altLang="en-US"/>
              <a:t>其余的拿住仆人，凌辱他们，把他们杀了。</a:t>
            </a:r>
            <a:endParaRPr lang="en-US" altLang="zh-CN"/>
          </a:p>
          <a:p>
            <a:r>
              <a:rPr lang="en-US" altLang="zh-CN"/>
              <a:t>7,</a:t>
            </a:r>
            <a:r>
              <a:rPr lang="zh-CN" altLang="en-US"/>
              <a:t>王就大怒，发兵除灭那些凶手，烧毁他们的城。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不理：不理踩，不回应。没有把说的话当回事。指被邀的人漫不经心的态度，并拒绝赴宴，对王个人的轻视。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 （希：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3</a:t>
            </a:r>
            <a:r>
              <a:rPr lang="zh-CN" altLang="en-US"/>
              <a:t>）我们若忽略这么大的救恩，怎能逃罪呢？这救恩起先是主亲</a:t>
            </a:r>
            <a:endParaRPr lang="en-US" altLang="zh-CN"/>
          </a:p>
          <a:p>
            <a:r>
              <a:rPr lang="zh-CN" altLang="en-US"/>
              <a:t>自讲的，后来是听见的人给我们证实了。</a:t>
            </a:r>
            <a:endParaRPr lang="en-US" altLang="zh-CN"/>
          </a:p>
          <a:p>
            <a:r>
              <a:rPr lang="zh-CN" altLang="en-US"/>
              <a:t>凌辱：欺负和羞辱，指践踏别人的尊言，不尊重。甚至杀了王的仆人，实在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    是不可思议的冒犯了王的好意。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烧毁他们的城</a:t>
            </a:r>
            <a:r>
              <a:rPr lang="en-US" altLang="zh-CN"/>
              <a:t>,</a:t>
            </a:r>
            <a:r>
              <a:rPr lang="zh-CN" altLang="en-US"/>
              <a:t>形容神的惩罚。预言主后的</a:t>
            </a:r>
            <a:r>
              <a:rPr lang="en-US" altLang="zh-CN"/>
              <a:t>70</a:t>
            </a:r>
            <a:r>
              <a:rPr lang="zh-CN" altLang="en-US"/>
              <a:t>年，耶路撒冷被毁。</a:t>
            </a:r>
          </a:p>
        </p:txBody>
      </p:sp>
    </p:spTree>
    <p:extLst>
      <p:ext uri="{BB962C8B-B14F-4D97-AF65-F5344CB8AC3E}">
        <p14:creationId xmlns:p14="http://schemas.microsoft.com/office/powerpoint/2010/main" val="1519144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BFBA7-9828-9836-A5A4-0D3AA252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45175" y="-213479"/>
            <a:ext cx="8644411" cy="1402199"/>
          </a:xfrm>
        </p:spPr>
        <p:txBody>
          <a:bodyPr/>
          <a:lstStyle/>
          <a:p>
            <a:r>
              <a:rPr lang="zh-CN" altLang="en-US"/>
              <a:t>三，恩典降下，机会重来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7E130-E4B5-C023-7419-0A728FAD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3409" y="1606231"/>
            <a:ext cx="7729728" cy="3101983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/>
              <a:t>8,</a:t>
            </a:r>
            <a:r>
              <a:rPr lang="zh-CN" altLang="en-US"/>
              <a:t>于是对仆人说：‘喜筵已经齐备，只是所召的人不配。</a:t>
            </a:r>
            <a:endParaRPr lang="en-US" altLang="zh-CN"/>
          </a:p>
          <a:p>
            <a:r>
              <a:rPr lang="en-US" altLang="zh-CN"/>
              <a:t>9,</a:t>
            </a:r>
            <a:r>
              <a:rPr lang="zh-CN" altLang="en-US"/>
              <a:t>所以你们要往岔路口上去，凡遇见的，都召来赴席。’</a:t>
            </a:r>
            <a:endParaRPr lang="en-US" altLang="zh-CN"/>
          </a:p>
          <a:p>
            <a:r>
              <a:rPr lang="en-US" altLang="zh-CN"/>
              <a:t>10,</a:t>
            </a:r>
            <a:r>
              <a:rPr lang="zh-CN" altLang="en-US"/>
              <a:t>那些仆人就出去，到大路上，凡遇见的，不论善恶都召聚了来，筵席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  上就坐满了客。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不配：没有资格享有，接受或拥有的东西和身份。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（徒：</a:t>
            </a:r>
            <a:r>
              <a:rPr lang="en-US" altLang="zh-CN"/>
              <a:t>13</a:t>
            </a:r>
            <a:r>
              <a:rPr lang="zh-CN" altLang="en-US"/>
              <a:t>：</a:t>
            </a:r>
            <a:r>
              <a:rPr lang="en-US" altLang="zh-CN"/>
              <a:t>46</a:t>
            </a:r>
            <a:r>
              <a:rPr lang="zh-CN" altLang="en-US"/>
              <a:t>）保罗和巴拿巴放胆说：“　神的道先讲给你们原是应当的；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只因你们弃绝这道，断定自己不配得永生，我们就转向外邦人去。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来赴席：福音是免费的，不分彼此的给每一个人。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127367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4CAB96-072F-BBCE-79DE-CD8DA3F09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509" y="296498"/>
            <a:ext cx="7729728" cy="7661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/>
              <a:t>以赛亚书</a:t>
            </a:r>
            <a:r>
              <a:rPr lang="en-US" altLang="zh-CN" sz="2400"/>
              <a:t>55</a:t>
            </a:r>
            <a:r>
              <a:rPr lang="zh-CN" altLang="en-US" sz="2400"/>
              <a:t>：</a:t>
            </a:r>
            <a:r>
              <a:rPr lang="en-US" altLang="zh-CN" sz="2400"/>
              <a:t>1-3</a:t>
            </a:r>
          </a:p>
          <a:p>
            <a:pPr marL="0" indent="0">
              <a:buNone/>
            </a:pPr>
            <a:r>
              <a:rPr lang="en-US" altLang="zh-CN" sz="2400"/>
              <a:t>1,</a:t>
            </a:r>
            <a:r>
              <a:rPr lang="zh-CN" altLang="en-US" sz="2400"/>
              <a:t>“你们一切干渴的都当就近水来，没有银钱的也可以来，你们都来，买了吃；不用银钱，不用价值，也来买酒和奶。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/>
              <a:t>2,</a:t>
            </a:r>
            <a:r>
              <a:rPr lang="zh-CN" altLang="en-US" sz="2400"/>
              <a:t>你们为何花钱（原文作平银）买那不足为食物的，用劳碌得来的买那不使人饱足的呢？你们要留意听我的话</a:t>
            </a:r>
            <a:r>
              <a:rPr lang="en-US" altLang="zh-CN" sz="2400"/>
              <a:t>,</a:t>
            </a:r>
            <a:r>
              <a:rPr lang="zh-CN" altLang="en-US" sz="2400"/>
              <a:t>就能吃那美物</a:t>
            </a:r>
            <a:r>
              <a:rPr lang="en-US" altLang="zh-CN" sz="2400"/>
              <a:t>,</a:t>
            </a:r>
            <a:r>
              <a:rPr lang="zh-CN" altLang="en-US" sz="2400"/>
              <a:t>得享肥甘，心中喜乐。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/>
              <a:t>3,</a:t>
            </a:r>
            <a:r>
              <a:rPr lang="zh-CN" altLang="en-US" sz="2400"/>
              <a:t>你们当就近我来，侧耳而听，就必得活。我必与你们立永约，就是应许大卫那可靠的恩典。</a:t>
            </a: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启示录</a:t>
            </a:r>
            <a:r>
              <a:rPr lang="en-US" altLang="zh-CN" sz="2400"/>
              <a:t>22</a:t>
            </a:r>
            <a:r>
              <a:rPr lang="zh-CN" altLang="en-US" sz="2400"/>
              <a:t>：</a:t>
            </a:r>
            <a:r>
              <a:rPr lang="en-US" altLang="zh-CN" sz="2400"/>
              <a:t>17</a:t>
            </a:r>
          </a:p>
          <a:p>
            <a:pPr marL="0" indent="0">
              <a:buNone/>
            </a:pPr>
            <a:r>
              <a:rPr lang="zh-CN" altLang="en-US" sz="2400"/>
              <a:t>圣灵和新妇都说：“来！”听见的人也该说：“来！”口渴的人也当来；愿意的，都可以白白取生命的水喝。
</a:t>
            </a: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803799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22484-9678-496E-9748-3F9A62BB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36388" y="-1"/>
            <a:ext cx="5271737" cy="936933"/>
          </a:xfrm>
        </p:spPr>
        <p:txBody>
          <a:bodyPr>
            <a:normAutofit/>
          </a:bodyPr>
          <a:lstStyle/>
          <a:p>
            <a:r>
              <a:rPr lang="zh-CN" altLang="en-US"/>
              <a:t>四，有机会，却不穿礼服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BA5845-1925-7DB8-26C6-E87A3D80C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1593"/>
            <a:ext cx="8539144" cy="3327496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/>
              <a:t>11,</a:t>
            </a:r>
            <a:r>
              <a:rPr lang="zh-CN" altLang="en-US"/>
              <a:t>王进来观看宾客，见那里有一个没有穿礼服的，</a:t>
            </a:r>
            <a:endParaRPr lang="en-US" altLang="zh-CN"/>
          </a:p>
          <a:p>
            <a:r>
              <a:rPr lang="en-US" altLang="zh-CN"/>
              <a:t>12,</a:t>
            </a:r>
            <a:r>
              <a:rPr lang="zh-CN" altLang="en-US"/>
              <a:t>就对他说：‘朋友，你到这里来怎么不穿礼服呢？’那人无言可答。</a:t>
            </a:r>
            <a:endParaRPr lang="en-US" altLang="zh-CN"/>
          </a:p>
          <a:p>
            <a:r>
              <a:rPr lang="en-US" altLang="zh-CN"/>
              <a:t>13,</a:t>
            </a:r>
            <a:r>
              <a:rPr lang="zh-CN" altLang="en-US"/>
              <a:t>于是王对使唤的人说：‘捆起他的手脚来，把他丢在外边的黑暗里；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     在那里必要哀哭切齿了。’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14,</a:t>
            </a:r>
            <a:r>
              <a:rPr lang="zh-CN" altLang="en-US"/>
              <a:t>因为被召的人多，选上的人少。（很多人听见福音，却很少人回应）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约</a:t>
            </a:r>
            <a:r>
              <a:rPr lang="en-US" altLang="zh-CN"/>
              <a:t>6</a:t>
            </a:r>
            <a:r>
              <a:rPr lang="zh-CN" altLang="en-US"/>
              <a:t>：</a:t>
            </a:r>
            <a:r>
              <a:rPr lang="en-US" altLang="zh-CN"/>
              <a:t>44</a:t>
            </a:r>
            <a:r>
              <a:rPr lang="zh-CN" altLang="en-US"/>
              <a:t>若不是差我来的父吸引人，就没有能到我这里来的；到我这里来的</a:t>
            </a:r>
            <a:r>
              <a:rPr lang="en-US" altLang="zh-CN"/>
              <a:t>,</a:t>
            </a:r>
            <a:r>
              <a:rPr lang="zh-CN" altLang="en-US"/>
              <a:t>在末日我要叫他复活。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穿礼服：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赛</a:t>
            </a:r>
            <a:r>
              <a:rPr lang="en-US" altLang="zh-CN"/>
              <a:t>61</a:t>
            </a:r>
            <a:r>
              <a:rPr lang="zh-CN" altLang="en-US"/>
              <a:t>：</a:t>
            </a:r>
            <a:r>
              <a:rPr lang="en-US" altLang="zh-CN"/>
              <a:t>10</a:t>
            </a:r>
            <a:r>
              <a:rPr lang="zh-CN" altLang="en-US"/>
              <a:t>我因耶和华大大欢喜；我的心靠神快乐。因他以拯救为衣给我穿上，以公义为袍给我披上，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好像新郎戴上华冠，又像新妇佩戴装饰。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不要只是听见，只要真正回应。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不要拒绝救恩，只要悔改相信。</a:t>
            </a:r>
          </a:p>
        </p:txBody>
      </p:sp>
    </p:spTree>
    <p:extLst>
      <p:ext uri="{BB962C8B-B14F-4D97-AF65-F5344CB8AC3E}">
        <p14:creationId xmlns:p14="http://schemas.microsoft.com/office/powerpoint/2010/main" val="117546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7CC24-85D0-638C-AF8A-FEECDD175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4452" y="0"/>
            <a:ext cx="7729728" cy="1188720"/>
          </a:xfrm>
        </p:spPr>
        <p:txBody>
          <a:bodyPr/>
          <a:lstStyle/>
          <a:p>
            <a:r>
              <a:rPr lang="zh-CN" altLang="en-US"/>
              <a:t>结语：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9E61DE-C8A0-FA9A-BBA8-7453E5C99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8332"/>
            <a:ext cx="7729728" cy="3101983"/>
          </a:xfrm>
        </p:spPr>
        <p:txBody>
          <a:bodyPr>
            <a:normAutofit/>
          </a:bodyPr>
          <a:lstStyle/>
          <a:p>
            <a:r>
              <a:rPr lang="zh-CN" altLang="en-US" sz="2400"/>
              <a:t>罗</a:t>
            </a:r>
            <a:r>
              <a:rPr lang="en-US" altLang="zh-CN" sz="2400"/>
              <a:t>8</a:t>
            </a:r>
            <a:r>
              <a:rPr lang="zh-CN" altLang="en-US" sz="2400"/>
              <a:t>：</a:t>
            </a:r>
            <a:r>
              <a:rPr lang="en-US" altLang="zh-CN" sz="2400"/>
              <a:t>30</a:t>
            </a:r>
          </a:p>
          <a:p>
            <a:r>
              <a:rPr lang="zh-CN" altLang="en-US" sz="2400"/>
              <a:t>预先所定下的人又召他们来；所召来的人又称他们为义；</a:t>
            </a: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所称为义的人又叫他们得荣耀。</a:t>
            </a:r>
          </a:p>
        </p:txBody>
      </p:sp>
    </p:spTree>
    <p:extLst>
      <p:ext uri="{BB962C8B-B14F-4D97-AF65-F5344CB8AC3E}">
        <p14:creationId xmlns:p14="http://schemas.microsoft.com/office/powerpoint/2010/main" val="538004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3B0AF1-B7D8-5BE2-DDF7-2283A1F98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9899" y="1997608"/>
            <a:ext cx="4813658" cy="310198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868998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宽屏</PresentationFormat>
  <Slides>10</Slides>
  <Notes>0</Notes>
  <HiddenSlides>0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包裹</vt:lpstr>
      <vt:lpstr>好机会，别错过</vt:lpstr>
      <vt:lpstr>引言</vt:lpstr>
      <vt:lpstr>一，神有预备，不要错过</vt:lpstr>
      <vt:lpstr>PowerPoint 演示文稿</vt:lpstr>
      <vt:lpstr>二，心理刚硬，错失良机</vt:lpstr>
      <vt:lpstr>三，恩典降下，机会重来</vt:lpstr>
      <vt:lpstr>PowerPoint 演示文稿</vt:lpstr>
      <vt:lpstr>四，有机会，却不穿礼服</vt:lpstr>
      <vt:lpstr>结语：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王的邀请</dc:title>
  <dc:creator>国莲 周</dc:creator>
  <cp:lastModifiedBy>国莲 周</cp:lastModifiedBy>
  <cp:revision>29</cp:revision>
  <dcterms:created xsi:type="dcterms:W3CDTF">2026-10-19T09:48:47Z</dcterms:created>
  <dcterms:modified xsi:type="dcterms:W3CDTF">2026-10-23T14:23:53Z</dcterms:modified>
</cp:coreProperties>
</file>