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18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81" r:id="rId10"/>
    <p:sldId id="362" r:id="rId11"/>
    <p:sldId id="351" r:id="rId12"/>
    <p:sldId id="361" r:id="rId13"/>
    <p:sldId id="346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0T08:18:52.903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0B2292-6F58-49BF-B588-B3FCA37A791D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fr-F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8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主日崇拜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2000" b="1" spc="-1">
                <a:solidFill>
                  <a:schemeClr val="dk1"/>
                </a:solidFill>
                <a:latin typeface="Matura MT Script Capitals"/>
              </a:rPr>
              <a:t>14</a:t>
            </a:r>
            <a:r>
              <a:rPr lang="fr-FR" sz="2400" b="1" strike="noStrike" spc="-1">
                <a:solidFill>
                  <a:schemeClr val="dk1"/>
                </a:solidFill>
                <a:latin typeface="Matura MT Script Capitals"/>
              </a:rPr>
              <a:t>/12/2025  </a:t>
            </a:r>
            <a:r>
              <a:rPr lang="fr-FR" sz="2400" b="1" strike="noStrike" spc="-1" dirty="0">
                <a:solidFill>
                  <a:schemeClr val="dk1"/>
                </a:solidFill>
                <a:latin typeface="Matura MT Script Capitals"/>
              </a:rPr>
              <a:t>15h-17h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如今常存的有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信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望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；这三样，其中最大的是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。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idx="4294967295"/>
          </p:nvPr>
        </p:nvSpPr>
        <p:spPr>
          <a:xfrm>
            <a:off x="0" y="544513"/>
            <a:ext cx="10518775" cy="1282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60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</a:t>
            </a:r>
            <a:r>
              <a:rPr lang="zh-CN" sz="9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宣召经文</a:t>
            </a:r>
            <a:r>
              <a:rPr lang="zh-CN" sz="9800" b="1" strike="noStrike" spc="-1" dirty="0">
                <a:solidFill>
                  <a:schemeClr val="accent5"/>
                </a:solidFill>
                <a:latin typeface="Garamond"/>
                <a:ea typeface="华文中宋"/>
              </a:rPr>
              <a:t>   </a:t>
            </a:r>
            <a:endParaRPr lang="en-US" sz="2000" b="0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4273950" y="5791721"/>
            <a:ext cx="302222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领会</a:t>
            </a:r>
            <a:r>
              <a:rPr lang="fr-FR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: </a:t>
            </a:r>
            <a:r>
              <a:rPr lang="zh-CN" altLang="fr-FR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吴兴隆弟兄</a:t>
            </a:r>
            <a:endParaRPr lang="fr-FR" sz="2800" b="1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CB3CCA-0040-FB08-7783-D3C5B9A03352}"/>
              </a:ext>
            </a:extLst>
          </p:cNvPr>
          <p:cNvSpPr txBox="1"/>
          <p:nvPr/>
        </p:nvSpPr>
        <p:spPr>
          <a:xfrm>
            <a:off x="0" y="2705725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000" b="1" dirty="0"/>
              <a:t>希西家说</a:t>
            </a:r>
            <a:r>
              <a:rPr lang="fr-FR" altLang="zh-CN" sz="4000" b="1" dirty="0"/>
              <a:t>: ‘</a:t>
            </a:r>
            <a:r>
              <a:rPr lang="zh-CN" altLang="fr-FR" sz="4000" b="1" dirty="0"/>
              <a:t>你们既然归耶和华为圣，就要前来把祭物，和感谢祭奉到耶和华殿里。</a:t>
            </a:r>
            <a:r>
              <a:rPr lang="fr-FR" altLang="zh-CN" sz="4000" b="1" dirty="0"/>
              <a:t>’</a:t>
            </a:r>
            <a:r>
              <a:rPr lang="zh-CN" altLang="fr-FR" sz="4000" b="1" dirty="0"/>
              <a:t>会众就把祭物和感谢祭奉来，凡甘心乐意的也将燔祭奉来。历代志下</a:t>
            </a:r>
            <a:r>
              <a:rPr lang="fr-FR" altLang="zh-CN" sz="4000" b="1" dirty="0"/>
              <a:t>29:31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 idx="4294967295"/>
          </p:nvPr>
        </p:nvSpPr>
        <p:spPr>
          <a:xfrm>
            <a:off x="0" y="392113"/>
            <a:ext cx="9361488" cy="18700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96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        </a:t>
            </a: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敬拜赞美       </a:t>
            </a:r>
            <a:endParaRPr lang="en-US" sz="9600" b="0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</p:txBody>
      </p:sp>
      <p:sp>
        <p:nvSpPr>
          <p:cNvPr id="106" name="ZoneTexte 5"/>
          <p:cNvSpPr/>
          <p:nvPr/>
        </p:nvSpPr>
        <p:spPr>
          <a:xfrm>
            <a:off x="1001184" y="3429000"/>
            <a:ext cx="1018963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800" b="1" strike="noStrike" spc="-1" dirty="0">
                <a:solidFill>
                  <a:schemeClr val="dk1"/>
                </a:solidFill>
                <a:latin typeface="Garamond"/>
              </a:rPr>
              <a:t>我要向耶和华歌唱，因他用厚恩待我</a:t>
            </a:r>
            <a:endParaRPr lang="fr-FR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6067C9-3EA4-E2A0-F5D3-ADF084D5676F}"/>
              </a:ext>
            </a:extLst>
          </p:cNvPr>
          <p:cNvSpPr txBox="1"/>
          <p:nvPr/>
        </p:nvSpPr>
        <p:spPr>
          <a:xfrm>
            <a:off x="4428162" y="5281786"/>
            <a:ext cx="4674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吉娜姐妹 </a:t>
            </a:r>
            <a:r>
              <a:rPr lang="fr-FR" altLang="zh-CN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+ </a:t>
            </a:r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周国莲姐妹 </a:t>
            </a:r>
            <a:endParaRPr lang="fr-F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ZoneTexte 5"/>
          <p:cNvSpPr/>
          <p:nvPr/>
        </p:nvSpPr>
        <p:spPr>
          <a:xfrm>
            <a:off x="527380" y="3635291"/>
            <a:ext cx="1155744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dk1"/>
                </a:solidFill>
                <a:latin typeface="Garamond"/>
              </a:rPr>
              <a:t>应当一无挂虑，只要凡事藉着祷告、祈求和感谢，将你们所要的告诉神。</a:t>
            </a:r>
            <a:endParaRPr lang="fr-FR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ZoneTexte 7"/>
          <p:cNvSpPr/>
          <p:nvPr/>
        </p:nvSpPr>
        <p:spPr>
          <a:xfrm>
            <a:off x="2018092" y="700741"/>
            <a:ext cx="76197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同心合意祷告</a:t>
            </a:r>
            <a:endParaRPr lang="fr-FR" sz="96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2"/>
          <p:cNvPicPr/>
          <p:nvPr/>
        </p:nvPicPr>
        <p:blipFill>
          <a:blip r:embed="rId2"/>
          <a:stretch/>
        </p:blipFill>
        <p:spPr>
          <a:xfrm>
            <a:off x="0" y="8280"/>
            <a:ext cx="12192120" cy="6858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3"/>
          <p:cNvPicPr/>
          <p:nvPr/>
        </p:nvPicPr>
        <p:blipFill>
          <a:blip r:embed="rId3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4"/>
          <p:cNvSpPr/>
          <p:nvPr/>
        </p:nvSpPr>
        <p:spPr>
          <a:xfrm>
            <a:off x="543600" y="493920"/>
            <a:ext cx="5766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6600" b="1" strike="noStrike" spc="-1" dirty="0">
                <a:solidFill>
                  <a:srgbClr val="7030A0"/>
                </a:solidFill>
                <a:latin typeface="Century Gothic"/>
              </a:rPr>
              <a:t>主日证道</a:t>
            </a:r>
            <a:r>
              <a:rPr lang="fr-FR" sz="6600" b="1" strike="noStrike" spc="-1" dirty="0">
                <a:solidFill>
                  <a:srgbClr val="7030A0"/>
                </a:solidFill>
                <a:latin typeface="Century Gothic"/>
              </a:rPr>
              <a:t>:                                 </a:t>
            </a:r>
            <a:endParaRPr lang="fr-FR" sz="6600" b="1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732240" y="2644200"/>
            <a:ext cx="10727280" cy="27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8800" b="1" strike="noStrike" spc="-1">
                <a:solidFill>
                  <a:srgbClr val="000000"/>
                </a:solidFill>
                <a:latin typeface="Century Gothic"/>
              </a:rPr>
              <a:t>        </a:t>
            </a:r>
            <a:r>
              <a:rPr lang="fr-FR" sz="8800" b="0" strike="noStrike" spc="-1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732240" y="2644200"/>
            <a:ext cx="1072728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altLang="fr-FR" sz="8800" b="1" strike="noStrike" spc="-1" dirty="0">
                <a:solidFill>
                  <a:srgbClr val="7030A0"/>
                </a:solidFill>
                <a:latin typeface="Century Gothic"/>
              </a:rPr>
              <a:t>神国的颁奖</a:t>
            </a:r>
            <a:r>
              <a:rPr lang="zh-CN" sz="2000" b="1" strike="noStrike" spc="-1" dirty="0">
                <a:solidFill>
                  <a:srgbClr val="7030A0"/>
                </a:solidFill>
                <a:latin typeface="Century Gothic"/>
              </a:rPr>
              <a:t>路加福音  </a:t>
            </a:r>
            <a:r>
              <a:rPr lang="fr-FR" altLang="zh-CN" sz="2000" b="1" spc="-1" dirty="0">
                <a:solidFill>
                  <a:srgbClr val="7030A0"/>
                </a:solidFill>
                <a:latin typeface="Century Gothic"/>
              </a:rPr>
              <a:t>6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20-36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altLang="zh-CN" sz="2800" b="1" spc="-1" dirty="0">
                <a:solidFill>
                  <a:schemeClr val="accent6"/>
                </a:solidFill>
                <a:latin typeface="Century Gothic"/>
              </a:rPr>
              <a:t>	                       </a:t>
            </a:r>
            <a:r>
              <a:rPr lang="zh-CN" altLang="fr-FR" sz="2800" b="1" spc="-1" dirty="0">
                <a:solidFill>
                  <a:schemeClr val="accent6"/>
                </a:solidFill>
                <a:latin typeface="Century Gothic"/>
              </a:rPr>
              <a:t>周国莲姐妹</a:t>
            </a:r>
            <a:r>
              <a:rPr lang="zh-CN" sz="2800" b="1" strike="noStrike" spc="-1" dirty="0">
                <a:solidFill>
                  <a:schemeClr val="accent6"/>
                </a:solidFill>
                <a:latin typeface="Century Gothic"/>
              </a:rPr>
              <a:t>分享</a:t>
            </a:r>
            <a:r>
              <a:rPr lang="fr-FR" altLang="zh-CN" sz="2800" b="1" strike="noStrike" spc="-1" dirty="0">
                <a:solidFill>
                  <a:schemeClr val="accent6"/>
                </a:solidFill>
                <a:latin typeface="Century Gothic"/>
              </a:rPr>
              <a:t> — </a:t>
            </a:r>
            <a:r>
              <a:rPr lang="zh-CN" altLang="fr-FR" sz="2800" b="1" strike="noStrike" spc="-1" dirty="0">
                <a:solidFill>
                  <a:schemeClr val="accent6"/>
                </a:solidFill>
                <a:latin typeface="Century Gothic"/>
              </a:rPr>
              <a:t>于福芬姐妹回应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/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6: 20-36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B2F5F5-3462-1E66-150D-BA670B0C0D5B}"/>
              </a:ext>
            </a:extLst>
          </p:cNvPr>
          <p:cNvSpPr txBox="1"/>
          <p:nvPr/>
        </p:nvSpPr>
        <p:spPr>
          <a:xfrm>
            <a:off x="466964" y="722548"/>
            <a:ext cx="1009949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2400" dirty="0"/>
              <a:t>20</a:t>
            </a:r>
            <a:r>
              <a:rPr lang="zh-CN" altLang="fr-FR" sz="2400" dirty="0"/>
              <a:t>耶稣举目看着门徒，说：</a:t>
            </a:r>
          </a:p>
          <a:p>
            <a:r>
              <a:rPr lang="zh-CN" altLang="fr-FR" sz="2400" i="1" dirty="0"/>
              <a:t>“你们贫穷的人有福了！因为　神的国是你们的。</a:t>
            </a:r>
            <a:endParaRPr lang="zh-CN" altLang="fr-FR" sz="2400" dirty="0"/>
          </a:p>
          <a:p>
            <a:r>
              <a:rPr lang="fr-FR" altLang="zh-CN" sz="2400" dirty="0"/>
              <a:t>21</a:t>
            </a:r>
            <a:r>
              <a:rPr lang="zh-CN" altLang="fr-FR" sz="2400" i="1" dirty="0"/>
              <a:t>你们饥饿的人有福了！因为你们将要饱足。你们哀哭的人有福了！因为你们将要喜笑。</a:t>
            </a:r>
            <a:endParaRPr lang="zh-CN" altLang="fr-FR" sz="2400" dirty="0"/>
          </a:p>
          <a:p>
            <a:r>
              <a:rPr lang="fr-FR" altLang="zh-CN" sz="2400" dirty="0"/>
              <a:t>22</a:t>
            </a:r>
            <a:r>
              <a:rPr lang="zh-CN" altLang="fr-FR" sz="2400" dirty="0"/>
              <a:t>人为人子恨恶你们，拒绝你们，辱骂你们，弃掉你们的名，以为是恶，你们就有福了！ </a:t>
            </a:r>
          </a:p>
          <a:p>
            <a:r>
              <a:rPr lang="fr-FR" altLang="zh-CN" sz="2400" dirty="0"/>
              <a:t>23</a:t>
            </a:r>
            <a:r>
              <a:rPr lang="zh-CN" altLang="fr-FR" sz="2400" dirty="0"/>
              <a:t>当那日，你们要欢喜跳跃，因为你们在天上的赏赐是大的。他们的祖宗待先知也是这样。”</a:t>
            </a:r>
          </a:p>
          <a:p>
            <a:r>
              <a:rPr lang="fr-FR" altLang="zh-CN" sz="2400" dirty="0"/>
              <a:t>24</a:t>
            </a:r>
            <a:r>
              <a:rPr lang="zh-CN" altLang="fr-FR" sz="2400" i="1" dirty="0"/>
              <a:t>“但你们富足的人有祸了！因为你们受过你们的安慰。</a:t>
            </a:r>
            <a:endParaRPr lang="zh-CN" altLang="fr-FR" sz="2400" dirty="0"/>
          </a:p>
          <a:p>
            <a:r>
              <a:rPr lang="fr-FR" altLang="zh-CN" sz="2400" dirty="0"/>
              <a:t>25</a:t>
            </a:r>
            <a:r>
              <a:rPr lang="zh-CN" altLang="fr-FR" sz="2400" i="1" dirty="0"/>
              <a:t>你们饱足的人有祸了！因为你们将要饥饿。你们喜笑的人有祸了！因为你们将要哀恸哭泣。</a:t>
            </a:r>
            <a:endParaRPr lang="zh-CN" altLang="fr-FR" sz="2400" dirty="0"/>
          </a:p>
          <a:p>
            <a:r>
              <a:rPr lang="fr-FR" altLang="zh-CN" sz="2400" dirty="0"/>
              <a:t>26</a:t>
            </a:r>
            <a:r>
              <a:rPr lang="zh-CN" altLang="fr-FR" sz="2400" dirty="0"/>
              <a:t>人都说你们好的时候，你们就有祸了！因为他们的祖宗待假先知也是这样。”</a:t>
            </a:r>
          </a:p>
          <a:p>
            <a:endParaRPr lang="zh-CN" altLang="fr-FR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4CD33C3-9B69-B352-3978-D4B2E6CD2CD6}"/>
              </a:ext>
            </a:extLst>
          </p:cNvPr>
          <p:cNvSpPr txBox="1"/>
          <p:nvPr/>
        </p:nvSpPr>
        <p:spPr>
          <a:xfrm>
            <a:off x="369870" y="1016872"/>
            <a:ext cx="101919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27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只是我告诉你们这听道的人，你们的仇敌，要爱他！恨你们的，要</a:t>
            </a:r>
            <a:endParaRPr lang="fr-FR" altLang="zh-CN" sz="2400" b="0" i="0" dirty="0">
              <a:solidFill>
                <a:srgbClr val="333333"/>
              </a:solidFill>
              <a:effectLst/>
              <a:latin typeface="HanHei SC"/>
            </a:endParaRPr>
          </a:p>
          <a:p>
            <a:pPr algn="l">
              <a:buNone/>
            </a:pP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待他好！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28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咒诅你们的，要为他祝福！凌辱你们的，要为他祷告！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29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有人打你这边的脸，连那边的脸也由他打。有人夺你的外衣，连里衣也</a:t>
            </a:r>
            <a:endParaRPr lang="fr-FR" altLang="zh-CN" sz="2400" b="0" i="0" dirty="0">
              <a:solidFill>
                <a:srgbClr val="333333"/>
              </a:solidFill>
              <a:effectLst/>
              <a:latin typeface="HanHei SC"/>
            </a:endParaRPr>
          </a:p>
          <a:p>
            <a:pPr algn="l">
              <a:buNone/>
            </a:pP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由他拿去。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30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凡求你的，就给他。有人夺你的东西去，不用再要回来。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31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你们愿意人怎样待你们，你们也要怎样待人。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32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你们若单爱那爱你们的人，有什么可酬谢的呢？就是罪人也爱那爱他们的人。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33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你们若善待那善待你们的人，有什么可酬谢的呢？就是罪人也是这行。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34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你们若借给人，指望从他收回，有什么可酬谢的呢？就是罪人也借给罪人，要如数收回。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35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你们倒要爱仇敌，也要善待他们，并要借给人不指望偿还，你们的赏赐就必大了，你们也必作至高者的儿子，因为他恩待那忘恩的和作恶的。 </a:t>
            </a:r>
          </a:p>
          <a:p>
            <a:pPr algn="l">
              <a:buNone/>
            </a:pPr>
            <a:r>
              <a:rPr lang="fr-FR" altLang="zh-CN" sz="2400" b="0" i="0" dirty="0">
                <a:solidFill>
                  <a:srgbClr val="333333"/>
                </a:solidFill>
                <a:effectLst/>
                <a:latin typeface="HanHei SC"/>
              </a:rPr>
              <a:t>36</a:t>
            </a:r>
            <a:r>
              <a:rPr lang="zh-CN" altLang="fr-FR" sz="2400" b="0" i="0" dirty="0">
                <a:solidFill>
                  <a:srgbClr val="333333"/>
                </a:solidFill>
                <a:effectLst/>
                <a:latin typeface="HanHei SC"/>
              </a:rPr>
              <a:t>你们要慈悲，像你们的父慈悲一样。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1212DA-692E-9BFD-0222-B15340511CA1}"/>
              </a:ext>
            </a:extLst>
          </p:cNvPr>
          <p:cNvSpPr txBox="1"/>
          <p:nvPr/>
        </p:nvSpPr>
        <p:spPr>
          <a:xfrm>
            <a:off x="287677" y="218822"/>
            <a:ext cx="6102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6: 2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7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-36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03721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8402B-2CA7-1AA2-9C35-FFF99E95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54813"/>
          </a:xfrm>
        </p:spPr>
        <p:txBody>
          <a:bodyPr>
            <a:normAutofit/>
          </a:bodyPr>
          <a:lstStyle/>
          <a:p>
            <a:pPr algn="ctr"/>
            <a:r>
              <a:rPr lang="zh-CN" altLang="fr-FR" sz="6000" dirty="0">
                <a:solidFill>
                  <a:schemeClr val="accent5"/>
                </a:solidFill>
              </a:rPr>
              <a:t>鼓励劝勉</a:t>
            </a:r>
            <a:endParaRPr lang="fr-FR" sz="6000" dirty="0">
              <a:solidFill>
                <a:schemeClr val="accent5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CF44D98-9DEE-A3B8-7AA5-FC3EBF5088C2}"/>
              </a:ext>
            </a:extLst>
          </p:cNvPr>
          <p:cNvSpPr txBox="1"/>
          <p:nvPr/>
        </p:nvSpPr>
        <p:spPr>
          <a:xfrm>
            <a:off x="1232899" y="3108403"/>
            <a:ext cx="79213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3200" b="0" i="0" dirty="0">
                <a:solidFill>
                  <a:srgbClr val="333333"/>
                </a:solidFill>
                <a:effectLst/>
                <a:latin typeface="HanHei SC"/>
              </a:rPr>
              <a:t>但神既然验中了我们，把福音托付我们，我们就照样讲，不是要讨人喜欢，乃是要讨那察验我们心的神喜欢。</a:t>
            </a:r>
            <a:endParaRPr lang="fr-FR" sz="3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ABDB04-39A6-47FB-D7E0-34044DEFB6C4}"/>
              </a:ext>
            </a:extLst>
          </p:cNvPr>
          <p:cNvSpPr txBox="1"/>
          <p:nvPr/>
        </p:nvSpPr>
        <p:spPr>
          <a:xfrm>
            <a:off x="1232899" y="2253114"/>
            <a:ext cx="6102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3200" dirty="0">
                <a:solidFill>
                  <a:schemeClr val="accent5"/>
                </a:solidFill>
              </a:rPr>
              <a:t>贴前 </a:t>
            </a:r>
            <a:r>
              <a:rPr lang="fr-FR" altLang="zh-CN" sz="3200" dirty="0">
                <a:solidFill>
                  <a:schemeClr val="accent5"/>
                </a:solidFill>
              </a:rPr>
              <a:t>2:4</a:t>
            </a:r>
            <a:endParaRPr lang="fr-FR" sz="3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09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9AAA-E719-C5DB-A3B4-C2BBA95B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46EE2D-F727-AD4C-9921-7D91F4E62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EC2637A-1F52-CC0C-EAB9-46B93A5DE9B7}"/>
              </a:ext>
            </a:extLst>
          </p:cNvPr>
          <p:cNvSpPr txBox="1"/>
          <p:nvPr/>
        </p:nvSpPr>
        <p:spPr>
          <a:xfrm>
            <a:off x="4491682" y="789463"/>
            <a:ext cx="61165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8000" b="1" dirty="0">
                <a:solidFill>
                  <a:schemeClr val="accent5"/>
                </a:solidFill>
              </a:rPr>
              <a:t>圣餐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5DF8D-D3AD-0977-16B3-F1443AAB534C}"/>
              </a:ext>
            </a:extLst>
          </p:cNvPr>
          <p:cNvSpPr/>
          <p:nvPr/>
        </p:nvSpPr>
        <p:spPr>
          <a:xfrm>
            <a:off x="800100" y="2425805"/>
            <a:ext cx="105918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altLang="zh-CN" sz="3600" b="1" dirty="0">
              <a:solidFill>
                <a:srgbClr val="C00000"/>
              </a:solidFill>
              <a:latin typeface="Century Gothic" panose="020B0502020202020204"/>
            </a:endParaRPr>
          </a:p>
          <a:p>
            <a:r>
              <a:rPr lang="zh-CN" altLang="fr-FR" sz="4400" b="1" dirty="0">
                <a:solidFill>
                  <a:srgbClr val="C00000"/>
                </a:solidFill>
                <a:latin typeface="Century Gothic" panose="020B0502020202020204"/>
              </a:rPr>
              <a:t>耶稣说：“我就是生命的粮，到我这里来的，必定不饿；信我的，永远不渴。</a:t>
            </a:r>
            <a:endParaRPr lang="fr-FR" altLang="zh-CN" sz="4400" b="1" dirty="0">
              <a:solidFill>
                <a:srgbClr val="C00000"/>
              </a:solidFill>
              <a:latin typeface="Century Gothic" panose="020B0502020202020204"/>
            </a:endParaRPr>
          </a:p>
          <a:p>
            <a:endParaRPr lang="fr-FR" altLang="zh-CN" sz="4000" b="1" dirty="0">
              <a:solidFill>
                <a:srgbClr val="DE7E18"/>
              </a:solidFill>
              <a:latin typeface="Century Gothic" panose="020B0502020202020204"/>
            </a:endParaRPr>
          </a:p>
          <a:p>
            <a:r>
              <a:rPr lang="fr-FR" altLang="zh-CN" sz="4000" b="1" dirty="0">
                <a:solidFill>
                  <a:srgbClr val="DE7E18"/>
                </a:solidFill>
                <a:latin typeface="Century Gothic" panose="020B0502020202020204"/>
              </a:rPr>
              <a:t>            </a:t>
            </a:r>
          </a:p>
          <a:p>
            <a:r>
              <a:rPr lang="fr-FR" altLang="zh-CN" sz="4000" b="1" dirty="0">
                <a:solidFill>
                  <a:srgbClr val="DE7E18"/>
                </a:solidFill>
                <a:latin typeface="Century Gothic" panose="020B0502020202020204"/>
              </a:rPr>
              <a:t>               </a:t>
            </a:r>
            <a:endParaRPr lang="fr-FR" sz="2800" b="1" dirty="0">
              <a:solidFill>
                <a:srgbClr val="DE7E18"/>
              </a:solidFill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8145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0828-EB6C-586C-4C71-BBF029A6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7F487FC-DB9C-D13B-D6D7-104C507E79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1455BCE-C5AC-349D-6154-48D5E68CDC06}"/>
              </a:ext>
            </a:extLst>
          </p:cNvPr>
          <p:cNvSpPr txBox="1"/>
          <p:nvPr/>
        </p:nvSpPr>
        <p:spPr>
          <a:xfrm>
            <a:off x="4607012" y="476561"/>
            <a:ext cx="61165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8000" b="1" dirty="0">
                <a:solidFill>
                  <a:schemeClr val="accent5"/>
                </a:solidFill>
              </a:rPr>
              <a:t>圣餐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66C404-6D04-3B1F-08D9-89FCE2488998}"/>
              </a:ext>
            </a:extLst>
          </p:cNvPr>
          <p:cNvSpPr txBox="1"/>
          <p:nvPr/>
        </p:nvSpPr>
        <p:spPr>
          <a:xfrm>
            <a:off x="472611" y="1857124"/>
            <a:ext cx="105926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3200" b="1" dirty="0">
                <a:solidFill>
                  <a:schemeClr val="accent5"/>
                </a:solidFill>
              </a:rPr>
              <a:t>11:23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我当日传给你们的，原是从主领受的，就是主耶稣被卖的那一夜，拿起饼来，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11:24	</a:t>
            </a:r>
            <a:r>
              <a:rPr lang="zh-CN" altLang="fr-FR" sz="3200" b="1" dirty="0"/>
              <a:t>祝谢了，就擘开，说：“这是我的身体，为你们舍的（注：“舍”有古卷作“擘开”）。你们应当如此行，为的是记念我。”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11:25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饭后，也照样拿起杯来，说：“这杯是用我的血所立的新约。你们每逢喝的时候，要如此行，为的是记念我。”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11:26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你们每逢吃这饼，喝这杯，是表明主的死，直等到他来。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340642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7771-3F8A-94B2-9036-F861DAD8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A32081E-FC96-673A-0060-9502D5BA4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96F951-7323-B7B3-5057-21EA8B01A5D7}"/>
              </a:ext>
            </a:extLst>
          </p:cNvPr>
          <p:cNvSpPr/>
          <p:nvPr/>
        </p:nvSpPr>
        <p:spPr>
          <a:xfrm>
            <a:off x="906163" y="900000"/>
            <a:ext cx="965083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/>
              <a:t>           </a:t>
            </a:r>
            <a:r>
              <a:rPr lang="zh-CN" altLang="fr-FR" sz="3600" b="1" dirty="0">
                <a:solidFill>
                  <a:schemeClr val="accent5"/>
                </a:solidFill>
              </a:rPr>
              <a:t>信望爱基督之家</a:t>
            </a:r>
            <a:r>
              <a:rPr lang="fr-FR" altLang="zh-CN" sz="3600" b="1" dirty="0">
                <a:solidFill>
                  <a:schemeClr val="accent2"/>
                </a:solidFill>
              </a:rPr>
              <a:t>/</a:t>
            </a:r>
            <a:r>
              <a:rPr lang="fr-FR" altLang="zh-CN" sz="3600" b="1" dirty="0">
                <a:solidFill>
                  <a:schemeClr val="accent4"/>
                </a:solidFill>
              </a:rPr>
              <a:t>/</a:t>
            </a:r>
            <a:r>
              <a:rPr lang="zh-CN" altLang="fr-FR" sz="3600" b="1" dirty="0">
                <a:solidFill>
                  <a:schemeClr val="accent5"/>
                </a:solidFill>
              </a:rPr>
              <a:t>十一月份财务报告</a:t>
            </a:r>
            <a:endParaRPr lang="fr-FR" altLang="zh-CN" sz="3600" b="1" dirty="0">
              <a:solidFill>
                <a:schemeClr val="accent5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r>
              <a:rPr lang="fr-FR" altLang="zh-CN" sz="20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十月份余额</a:t>
            </a:r>
            <a:r>
              <a:rPr lang="fr-FR" altLang="zh-CN" sz="2400" b="1" dirty="0">
                <a:solidFill>
                  <a:schemeClr val="accent5"/>
                </a:solidFill>
              </a:rPr>
              <a:t>: </a:t>
            </a:r>
            <a:r>
              <a:rPr lang="fr-FR" altLang="zh-CN" sz="2400" b="1" dirty="0">
                <a:solidFill>
                  <a:srgbClr val="00B050"/>
                </a:solidFill>
              </a:rPr>
              <a:t>4448.33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r>
              <a:rPr lang="fr-FR" altLang="zh-CN" sz="24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十一月份收到奉献总额</a:t>
            </a:r>
            <a:r>
              <a:rPr lang="fr-FR" altLang="zh-CN" sz="2400" b="1" dirty="0">
                <a:solidFill>
                  <a:schemeClr val="accent5"/>
                </a:solidFill>
              </a:rPr>
              <a:t>: </a:t>
            </a:r>
            <a:r>
              <a:rPr lang="fr-FR" altLang="zh-CN" sz="2400" b="1" dirty="0">
                <a:solidFill>
                  <a:srgbClr val="00B050"/>
                </a:solidFill>
              </a:rPr>
              <a:t>1460,00</a:t>
            </a:r>
            <a:r>
              <a:rPr lang="fr-FR" altLang="zh-CN" sz="2400" b="1" dirty="0">
                <a:solidFill>
                  <a:srgbClr val="FFC000"/>
                </a:solidFill>
              </a:rPr>
              <a:t>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r>
              <a:rPr lang="fr-FR" sz="2400" b="1" dirty="0">
                <a:solidFill>
                  <a:schemeClr val="accent5"/>
                </a:solidFill>
              </a:rPr>
              <a:t> </a:t>
            </a:r>
          </a:p>
          <a:p>
            <a:endParaRPr lang="fr-FR" sz="2400" b="1" dirty="0">
              <a:solidFill>
                <a:srgbClr val="FFC000"/>
              </a:solidFill>
            </a:endParaRPr>
          </a:p>
          <a:p>
            <a:endParaRPr lang="fr-FR" sz="2400" b="1" dirty="0">
              <a:solidFill>
                <a:srgbClr val="FFC000"/>
              </a:solidFill>
            </a:endParaRPr>
          </a:p>
          <a:p>
            <a:r>
              <a:rPr lang="fr-FR" sz="2400" b="1" dirty="0">
                <a:solidFill>
                  <a:schemeClr val="accent4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十一月份支出</a:t>
            </a:r>
            <a:r>
              <a:rPr lang="fr-FR" altLang="zh-CN" sz="2400" b="1" dirty="0">
                <a:solidFill>
                  <a:schemeClr val="accent5"/>
                </a:solidFill>
              </a:rPr>
              <a:t>:  </a:t>
            </a:r>
            <a:r>
              <a:rPr lang="zh-CN" altLang="fr-FR" sz="2400" b="1" dirty="0">
                <a:solidFill>
                  <a:schemeClr val="accent5"/>
                </a:solidFill>
              </a:rPr>
              <a:t>奉献给爱心之家用于宣教 </a:t>
            </a:r>
            <a:r>
              <a:rPr lang="fr-FR" altLang="zh-CN" sz="2400" b="1" dirty="0">
                <a:solidFill>
                  <a:schemeClr val="accent4"/>
                </a:solidFill>
              </a:rPr>
              <a:t>300,00 </a:t>
            </a:r>
            <a:r>
              <a:rPr lang="zh-CN" altLang="fr-FR" sz="2400" b="1" dirty="0">
                <a:solidFill>
                  <a:schemeClr val="accent5"/>
                </a:solidFill>
              </a:rPr>
              <a:t>欧元 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r>
              <a:rPr lang="fr-FR" sz="2400" b="1" dirty="0">
                <a:solidFill>
                  <a:srgbClr val="FFC000"/>
                </a:solidFill>
              </a:rPr>
              <a:t>                          </a:t>
            </a:r>
            <a:r>
              <a:rPr lang="zh-CN" altLang="fr-FR" sz="2400" b="1" dirty="0">
                <a:solidFill>
                  <a:schemeClr val="accent5"/>
                </a:solidFill>
              </a:rPr>
              <a:t>支出费用 </a:t>
            </a:r>
            <a:r>
              <a:rPr lang="fr-FR" altLang="zh-CN" sz="2400" b="1" dirty="0">
                <a:solidFill>
                  <a:schemeClr val="accent4"/>
                </a:solidFill>
              </a:rPr>
              <a:t>311,56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endParaRPr lang="fr-FR" sz="2400" b="1" dirty="0">
              <a:solidFill>
                <a:schemeClr val="accent5"/>
              </a:solidFill>
            </a:endParaRPr>
          </a:p>
          <a:p>
            <a:r>
              <a:rPr lang="fr-FR" sz="2400" b="1" dirty="0">
                <a:solidFill>
                  <a:srgbClr val="FFC000"/>
                </a:solidFill>
              </a:rPr>
              <a:t>                          </a:t>
            </a:r>
            <a:endParaRPr lang="fr-FR" altLang="zh-CN" sz="2400" b="1" dirty="0">
              <a:solidFill>
                <a:srgbClr val="FF0000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r>
              <a:rPr lang="fr-FR" altLang="zh-CN" sz="24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十一月份余额</a:t>
            </a:r>
            <a:r>
              <a:rPr lang="fr-FR" altLang="zh-CN" sz="2400" b="1" dirty="0">
                <a:solidFill>
                  <a:schemeClr val="accent5"/>
                </a:solidFill>
              </a:rPr>
              <a:t>: </a:t>
            </a:r>
            <a:r>
              <a:rPr lang="fr-FR" altLang="zh-CN" sz="2400" b="1" dirty="0">
                <a:solidFill>
                  <a:schemeClr val="accent2"/>
                </a:solidFill>
              </a:rPr>
              <a:t>5296,80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endParaRPr lang="fr-FR" sz="2400" b="1" dirty="0">
              <a:solidFill>
                <a:schemeClr val="accent5"/>
              </a:solidFill>
            </a:endParaRPr>
          </a:p>
          <a:p>
            <a:r>
              <a:rPr lang="fr-FR" sz="2000" b="1" dirty="0">
                <a:solidFill>
                  <a:srgbClr val="FFC000"/>
                </a:solidFill>
              </a:rPr>
              <a:t>             </a:t>
            </a:r>
            <a:r>
              <a:rPr lang="fr-FR" sz="2000" dirty="0">
                <a:solidFill>
                  <a:srgbClr val="FFC00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16099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47" name="Rectangle 2"/>
          <p:cNvSpPr/>
          <p:nvPr/>
        </p:nvSpPr>
        <p:spPr>
          <a:xfrm>
            <a:off x="1546531" y="899820"/>
            <a:ext cx="85471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8800" b="1" strike="noStrike" spc="-1" dirty="0">
                <a:solidFill>
                  <a:schemeClr val="accent6"/>
                </a:solidFill>
                <a:latin typeface="Garamond"/>
              </a:rPr>
              <a:t>欢迎新朋友</a:t>
            </a:r>
            <a:r>
              <a:rPr lang="fr-FR" sz="8800" b="0" strike="noStrike" spc="-1" dirty="0">
                <a:solidFill>
                  <a:schemeClr val="accent5"/>
                </a:solidFill>
                <a:latin typeface="Garamond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1"/>
          <p:cNvSpPr/>
          <p:nvPr/>
        </p:nvSpPr>
        <p:spPr>
          <a:xfrm>
            <a:off x="1512000" y="4325760"/>
            <a:ext cx="8616183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4000" b="1" strike="noStrike" spc="-1" dirty="0">
                <a:solidFill>
                  <a:schemeClr val="accent6"/>
                </a:solidFill>
                <a:latin typeface="Garamond"/>
              </a:rPr>
              <a:t>“</a:t>
            </a:r>
            <a:r>
              <a:rPr lang="zh-CN" sz="4000" b="1" strike="noStrike" spc="-1" dirty="0">
                <a:solidFill>
                  <a:schemeClr val="accent6"/>
                </a:solidFill>
                <a:latin typeface="Garamond"/>
              </a:rPr>
              <a:t>当信主耶稣，你和你一家都必得救”</a:t>
            </a:r>
            <a:endParaRPr lang="fr-FR" sz="4000" b="1" strike="noStrike" spc="-1" dirty="0">
              <a:solidFill>
                <a:schemeClr val="accent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0" name="Rectangle 2"/>
          <p:cNvSpPr/>
          <p:nvPr/>
        </p:nvSpPr>
        <p:spPr>
          <a:xfrm>
            <a:off x="1822440" y="753794"/>
            <a:ext cx="854712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9600" b="1" strike="noStrike" spc="-1" dirty="0">
                <a:solidFill>
                  <a:schemeClr val="accent6"/>
                </a:solidFill>
                <a:latin typeface="Garamond"/>
              </a:rPr>
              <a:t>领受祝福</a:t>
            </a:r>
            <a:r>
              <a:rPr lang="fr-FR" sz="9600" b="0" strike="noStrike" spc="-1" dirty="0">
                <a:solidFill>
                  <a:schemeClr val="accent6"/>
                </a:solidFill>
                <a:latin typeface="Garamond"/>
              </a:rPr>
              <a:t>                                 </a:t>
            </a:r>
            <a:endParaRPr lang="fr-FR" sz="9600" b="0" strike="noStrike" spc="-1" dirty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532800" y="3984065"/>
            <a:ext cx="1100556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6"/>
                </a:solidFill>
                <a:latin typeface="Garamond"/>
              </a:rPr>
              <a:t>愿恩惠、平安从　神我们的父和主耶稣基督归与你们！</a:t>
            </a:r>
            <a:endParaRPr lang="fr-FR" sz="3600" b="0" strike="noStrike" spc="-1" dirty="0">
              <a:solidFill>
                <a:schemeClr val="accent6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2"/>
          <p:cNvSpPr/>
          <p:nvPr/>
        </p:nvSpPr>
        <p:spPr>
          <a:xfrm>
            <a:off x="1519560" y="774360"/>
            <a:ext cx="9152640" cy="25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聚会结束</a:t>
            </a:r>
            <a:r>
              <a:rPr lang="fr-FR" sz="7200" b="1" strike="noStrike" spc="-1">
                <a:solidFill>
                  <a:schemeClr val="accent5"/>
                </a:solidFill>
                <a:latin typeface="Garamond"/>
              </a:rPr>
              <a:t>--</a:t>
            </a: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默祷后散会</a:t>
            </a:r>
            <a:r>
              <a:rPr lang="fr-FR" sz="8800" b="0" strike="noStrike" spc="-1">
                <a:solidFill>
                  <a:schemeClr val="dk1"/>
                </a:solidFill>
                <a:latin typeface="Garamond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5"/>
          <p:cNvSpPr/>
          <p:nvPr/>
        </p:nvSpPr>
        <p:spPr>
          <a:xfrm>
            <a:off x="532800" y="2220840"/>
            <a:ext cx="11005560" cy="544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请大家留步享用爱宴晚餐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  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18:00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开饭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Garamond"/>
              </a:rPr>
              <a:t>       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信望爱教会事工表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祷告小组 – 星期天 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13:30-14:15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主日崇拜 – 星期天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15:00-17:00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回应小组 – 星期天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17:00-18:00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旷野小组 – 星期三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20:30-22:30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荒漠小组 – 星期四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20:00-21:30 (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线上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)</a:t>
            </a:r>
          </a:p>
          <a:p>
            <a:pPr defTabSz="457200">
              <a:lnSpc>
                <a:spcPct val="100000"/>
              </a:lnSpc>
            </a:pPr>
            <a:r>
              <a:rPr lang="fr-FR" sz="2000" b="1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>周五小组 </a:t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>– </a:t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>星期五  </a:t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>20:00-21:30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800" b="1" strike="noStrike" spc="-1" dirty="0">
                <a:solidFill>
                  <a:srgbClr val="C00000"/>
                </a:solidFill>
                <a:latin typeface="Garamond"/>
              </a:rPr>
              <a:t>		   </a:t>
            </a: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诚挚欢迎大家再来</a:t>
            </a:r>
            <a:r>
              <a:rPr lang="fr-FR" sz="3600" b="1" strike="noStrike" spc="-1" dirty="0">
                <a:solidFill>
                  <a:schemeClr val="accent5"/>
                </a:solidFill>
                <a:latin typeface="Garamond"/>
              </a:rPr>
              <a:t>,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一起认识基督耶稣。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1359</Words>
  <Application>Microsoft Office PowerPoint</Application>
  <PresentationFormat>Grand écran</PresentationFormat>
  <Paragraphs>91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HanHei SC</vt:lpstr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 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鼓励劝勉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451</cp:revision>
  <dcterms:created xsi:type="dcterms:W3CDTF">2024-11-16T18:47:01Z</dcterms:created>
  <dcterms:modified xsi:type="dcterms:W3CDTF">2026-01-16T18:33:02Z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