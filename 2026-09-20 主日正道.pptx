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964" r:id="rId1"/>
  </p:sldMasterIdLst>
  <p:notesMasterIdLst>
    <p:notesMasterId r:id="rId26"/>
  </p:notesMasterIdLst>
  <p:sldIdLst>
    <p:sldId id="257" r:id="rId2"/>
    <p:sldId id="259" r:id="rId3"/>
    <p:sldId id="294" r:id="rId4"/>
    <p:sldId id="494" r:id="rId7"/>
    <p:sldId id="495" r:id="rId6"/>
    <p:sldId id="496" r:id="rId5"/>
    <p:sldId id="455" r:id="rId8"/>
    <p:sldId id="297" r:id="rId9"/>
    <p:sldId id="317" r:id="rId10"/>
    <p:sldId id="478" r:id="rId11"/>
    <p:sldId id="480" r:id="rId12"/>
    <p:sldId id="332" r:id="rId22"/>
    <p:sldId id="321" r:id="rId23"/>
    <p:sldId id="333" r:id="rId24"/>
    <p:sldId id="33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4" autoAdjust="0"/>
    <p:restoredTop sz="94731" autoAdjust="0"/>
  </p:normalViewPr>
  <p:slideViewPr>
    <p:cSldViewPr snapToGrid="0">
      <p:cViewPr varScale="1">
        <p:scale>
          <a:sx n="90" d="100"/>
          <a:sy n="90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4328-2618-4516-8CA7-109892CA23B7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63CCF-625A-4FFF-A445-F8775908C5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23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50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44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02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356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9161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31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70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062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01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467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5603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985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4034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094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511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4263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75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5" r:id="rId1"/>
    <p:sldLayoutId id="2147484966" r:id="rId2"/>
    <p:sldLayoutId id="2147484967" r:id="rId3"/>
    <p:sldLayoutId id="2147484968" r:id="rId4"/>
    <p:sldLayoutId id="2147484969" r:id="rId5"/>
    <p:sldLayoutId id="2147484970" r:id="rId6"/>
    <p:sldLayoutId id="2147484971" r:id="rId7"/>
    <p:sldLayoutId id="2147484972" r:id="rId8"/>
    <p:sldLayoutId id="2147484973" r:id="rId9"/>
    <p:sldLayoutId id="2147484974" r:id="rId10"/>
    <p:sldLayoutId id="2147484975" r:id="rId11"/>
    <p:sldLayoutId id="2147484976" r:id="rId12"/>
    <p:sldLayoutId id="2147484977" r:id="rId13"/>
    <p:sldLayoutId id="2147484978" r:id="rId14"/>
    <p:sldLayoutId id="2147484979" r:id="rId15"/>
    <p:sldLayoutId id="21474849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92E7C99-C1C0-5D75-1869-4DE50C91491E}"/>
              </a:ext>
            </a:extLst>
          </p:cNvPr>
          <p:cNvSpPr txBox="1"/>
          <p:nvPr/>
        </p:nvSpPr>
        <p:spPr>
          <a:xfrm>
            <a:off x="2545492" y="511431"/>
            <a:ext cx="73563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7200" b="1" dirty="0">
                <a:solidFill>
                  <a:srgbClr val="FFC000"/>
                </a:solidFill>
                <a:latin typeface="Algerian" panose="04020705040A02060702" pitchFamily="82" charset="0"/>
              </a:rPr>
              <a:t>信望爱基督之家</a:t>
            </a:r>
            <a:endParaRPr lang="fr-FR" altLang="zh-CN" sz="7200" b="1" dirty="0">
              <a:solidFill>
                <a:srgbClr val="FFC000"/>
              </a:solidFill>
              <a:latin typeface="Algerian" panose="04020705040A02060702" pitchFamily="82" charset="0"/>
            </a:endParaRPr>
          </a:p>
          <a:p>
            <a:r>
              <a:rPr lang="fr-FR" sz="36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     </a:t>
            </a:r>
            <a:r>
              <a:rPr lang="fr-FR" sz="32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Eglise la Maison du Christ </a:t>
            </a:r>
          </a:p>
          <a:p>
            <a:endParaRPr lang="fr-FR" sz="3200" b="1" dirty="0">
              <a:solidFill>
                <a:srgbClr val="FFC000"/>
              </a:solidFill>
              <a:latin typeface="Matura MT Script Capitals" panose="03020802060602070202" pitchFamily="66" charset="0"/>
            </a:endParaRPr>
          </a:p>
          <a:p>
            <a:r>
              <a:rPr lang="fr-FR" sz="32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         </a:t>
            </a:r>
            <a:r>
              <a:rPr lang="zh-CN" altLang="fr-FR" sz="80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主日崇拜</a:t>
            </a:r>
            <a:endParaRPr lang="fr-FR" altLang="zh-CN" sz="8000" b="1" dirty="0">
              <a:solidFill>
                <a:srgbClr val="FFC000"/>
              </a:solidFill>
              <a:latin typeface="Matura MT Script Capitals" panose="03020802060602070202" pitchFamily="66" charset="0"/>
            </a:endParaRPr>
          </a:p>
          <a:p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>                  20/09/2026</a:t>
            </a:r>
            <a:r>
              <a:rPr b="1" sz="2000">
                <a:latin typeface="STXingkai"/>
              </a:rPr>
              <a:t> 15h-17h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5DDE902-DC87-5208-6700-3B4CF8CAF5F0}"/>
              </a:ext>
            </a:extLst>
          </p:cNvPr>
          <p:cNvSpPr txBox="1"/>
          <p:nvPr/>
        </p:nvSpPr>
        <p:spPr>
          <a:xfrm>
            <a:off x="1876653" y="4853650"/>
            <a:ext cx="96715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2800" b="1" dirty="0"/>
              <a:t>如今常存的有</a:t>
            </a:r>
            <a:r>
              <a:rPr lang="zh-CN" altLang="fr-FR" sz="2800" b="1" dirty="0">
                <a:solidFill>
                  <a:srgbClr val="FFC000"/>
                </a:solidFill>
              </a:rPr>
              <a:t>信</a:t>
            </a:r>
            <a:r>
              <a:rPr lang="zh-CN" altLang="fr-FR" sz="2800" b="1" dirty="0"/>
              <a:t>，有</a:t>
            </a:r>
            <a:r>
              <a:rPr lang="zh-CN" altLang="fr-FR" sz="2800" b="1" dirty="0">
                <a:solidFill>
                  <a:srgbClr val="FFC000"/>
                </a:solidFill>
              </a:rPr>
              <a:t>望</a:t>
            </a:r>
            <a:r>
              <a:rPr lang="zh-CN" altLang="fr-FR" sz="2800" b="1" dirty="0"/>
              <a:t>，有</a:t>
            </a:r>
            <a:r>
              <a:rPr lang="zh-CN" altLang="fr-FR" sz="2800" b="1" dirty="0">
                <a:solidFill>
                  <a:srgbClr val="FFC000"/>
                </a:solidFill>
              </a:rPr>
              <a:t>爱</a:t>
            </a:r>
            <a:r>
              <a:rPr lang="zh-CN" altLang="fr-FR" sz="2800" b="1" dirty="0"/>
              <a:t>；这三样，其中最大的是</a:t>
            </a:r>
            <a:r>
              <a:rPr lang="zh-CN" altLang="fr-FR" sz="2800" b="1" dirty="0">
                <a:solidFill>
                  <a:srgbClr val="FFC000"/>
                </a:solidFill>
              </a:rPr>
              <a:t>爱</a:t>
            </a:r>
            <a:r>
              <a:rPr lang="zh-CN" altLang="fr-FR" sz="2800" b="1" dirty="0"/>
              <a:t>。
                                接待 陈忠勇弟兄</a:t>
            </a:r>
            <a:endParaRPr lang="fr-FR" altLang="zh-CN" sz="2800" b="1" dirty="0"/>
          </a:p>
          <a:p>
            <a:endParaRPr lang="fr-FR" sz="2800" b="1" dirty="0"/>
          </a:p>
          <a:p>
            <a:r>
              <a:rPr lang="fr-FR" sz="2800" b="1" dirty="0"/>
              <a:t>           </a:t>
            </a:r>
          </a:p>
          <a:p>
            <a:r>
              <a:rPr lang="fr-FR" altLang="zh-CN" sz="2800" b="1" dirty="0">
                <a:solidFill>
                  <a:srgbClr val="FFC000"/>
                </a:solidFill>
              </a:rPr>
              <a:t>                         </a:t>
            </a:r>
            <a:r>
              <a:rPr lang="zh-CN" altLang="fr-FR" sz="2800" b="1" dirty="0">
                <a:solidFill>
                  <a:srgbClr val="FFC000"/>
                </a:solidFill>
              </a:rPr>
              <a:t>接待</a:t>
            </a:r>
            <a:r>
              <a:rPr lang="fr-FR" altLang="zh-CN" sz="2800" b="1" dirty="0">
                <a:solidFill>
                  <a:srgbClr val="FFC000"/>
                </a:solidFill>
              </a:rPr>
              <a:t>:  </a:t>
            </a:r>
            <a:r>
              <a:rPr lang="zh-CN" altLang="fr-FR" sz="2800" b="1" dirty="0">
                <a:solidFill>
                  <a:srgbClr val="FFC000"/>
                </a:solidFill>
              </a:rPr>
              <a:t>宋利忠弟兄</a:t>
            </a:r>
            <a:endParaRPr lang="fr-FR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62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2B464527-F344-6D11-6B30-726A91F3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493" y="295772"/>
            <a:ext cx="8991600" cy="1283438"/>
          </a:xfrm>
        </p:spPr>
        <p:txBody>
          <a:bodyPr>
            <a:normAutofit fontScale="90000"/>
          </a:bodyPr>
          <a:lstStyle/>
          <a:p>
            <a:r>
              <a:rPr lang="zh-CN" altLang="fr-FR" sz="6000" b="1" dirty="0">
                <a:solidFill>
                  <a:srgbClr val="7030A0"/>
                </a:solidFill>
                <a:ea typeface="华文中宋"/>
              </a:rPr>
              <a:t>         </a:t>
            </a:r>
            <a:r>
              <a:rPr lang="zh-CN" altLang="fr-FR" sz="8000" b="1" dirty="0">
                <a:solidFill>
                  <a:srgbClr val="FFC000"/>
                </a:solidFill>
                <a:ea typeface="华文中宋"/>
              </a:rPr>
              <a:t>宣召经文</a:t>
            </a:r>
            <a:r>
              <a:rPr lang="zh-CN" altLang="fr-FR" sz="2000" b="1" dirty="0">
                <a:solidFill>
                  <a:srgbClr val="FFC000"/>
                </a:solidFill>
                <a:ea typeface="华文中宋"/>
              </a:rPr>
              <a:t>希伯来书</a:t>
            </a:r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>4：14</a:t>
            </a:r>
            <a:r>
              <a:rPr b="1" sz="2000">
                <a:latin typeface="STXingka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923192" y="2166324"/>
            <a:ext cx="112688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fr-FR" sz="4000" b="1" dirty="0"/>
          </a:p>
          <a:p>
            <a:r>
              <a:rPr lang="fr-FR" altLang="zh-CN" sz="4000" b="1" dirty="0"/>
              <a:t>	</a:t>
            </a:r>
            <a:r>
              <a:rPr lang="zh-CN" altLang="fr-FR" sz="4000" b="1" dirty="0">
                <a:solidFill>
                  <a:srgbClr val="C00000"/>
                </a:solidFill>
              </a:rPr>
              <a:t>我们既然有一位已经升入高天尊荣的大祭司，就是神的儿子耶稣，便当持定所承认的道。</a:t>
            </a:r>
            <a:endParaRPr lang="fr-FR" altLang="zh-CN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rgbClr val="C00000"/>
              </a:solidFill>
            </a:endParaRPr>
          </a:p>
          <a:p>
            <a:r>
              <a:rPr lang="fr-FR" sz="4000" b="1" dirty="0">
                <a:solidFill>
                  <a:srgbClr val="C00000"/>
                </a:solidFill>
              </a:rPr>
              <a:t>                            </a:t>
            </a:r>
            <a:r>
              <a:rPr lang="zh-CN" altLang="fr-FR" sz="2800" b="1" dirty="0">
                <a:solidFill>
                  <a:srgbClr val="FFC000"/>
                </a:solidFill>
              </a:rPr>
              <a:t>周国莲宣教士</a:t>
            </a:r>
            <a:endParaRPr lang="fr-FR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51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B0869FC9-FAE0-A12F-E802-94706478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7" y="324037"/>
            <a:ext cx="9362114" cy="1871005"/>
          </a:xfrm>
        </p:spPr>
        <p:txBody>
          <a:bodyPr>
            <a:noAutofit/>
          </a:bodyPr>
          <a:lstStyle/>
          <a:p>
            <a:r>
              <a:rPr lang="zh-CN" altLang="fr-FR" sz="9600" b="1" dirty="0">
                <a:solidFill>
                  <a:srgbClr val="7030A0"/>
                </a:solidFill>
                <a:ea typeface="华文中宋"/>
              </a:rPr>
              <a:t>         </a:t>
            </a:r>
            <a:r>
              <a:rPr lang="zh-CN" altLang="fr-FR" sz="9600" b="1" dirty="0">
                <a:solidFill>
                  <a:srgbClr val="FFC000"/>
                </a:solidFill>
                <a:ea typeface="华文中宋"/>
              </a:rPr>
              <a:t>敬拜赞美      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3E2845-AE6A-F044-034C-BD2EA1E73C8A}"/>
              </a:ext>
            </a:extLst>
          </p:cNvPr>
          <p:cNvSpPr txBox="1"/>
          <p:nvPr/>
        </p:nvSpPr>
        <p:spPr>
          <a:xfrm>
            <a:off x="2042984" y="3429000"/>
            <a:ext cx="101490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000" b="1" dirty="0">
                <a:solidFill>
                  <a:srgbClr val="C00000"/>
                </a:solidFill>
              </a:rPr>
              <a:t>我要向耶和华歌唱，因他用厚恩待我</a:t>
            </a:r>
            <a:endParaRPr lang="fr-FR" altLang="zh-CN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chemeClr val="accent2"/>
              </a:solidFill>
            </a:endParaRPr>
          </a:p>
          <a:p>
            <a:endParaRPr lang="fr-FR" sz="4000" b="1" dirty="0">
              <a:solidFill>
                <a:schemeClr val="accent2"/>
              </a:solidFill>
            </a:endParaRPr>
          </a:p>
          <a:p>
            <a:r>
              <a:rPr lang="fr-FR" sz="4000" b="1" dirty="0">
                <a:solidFill>
                  <a:schemeClr val="accent2"/>
                </a:solidFill>
              </a:rPr>
              <a:t>                  </a:t>
            </a:r>
            <a:r>
              <a:rPr lang="zh-CN" altLang="fr-FR" sz="3200" b="1" dirty="0">
                <a:solidFill>
                  <a:srgbClr val="FFC000"/>
                </a:solidFill>
              </a:rPr>
              <a:t>徐霞姐妹 巩象学弟兄</a:t>
            </a:r>
            <a:endParaRPr lang="fr-FR" sz="32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1726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2CA5-96C8-27C8-E556-CB16E700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E8B6A12-C68D-CA47-3E4A-17054DE16A29}"/>
              </a:ext>
            </a:extLst>
          </p:cNvPr>
          <p:cNvSpPr txBox="1"/>
          <p:nvPr/>
        </p:nvSpPr>
        <p:spPr>
          <a:xfrm>
            <a:off x="2284213" y="130415"/>
            <a:ext cx="8960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9600" b="1" dirty="0">
                <a:solidFill>
                  <a:schemeClr val="accent2"/>
                </a:solidFill>
              </a:rPr>
              <a:t>同心合意祷告</a:t>
            </a:r>
            <a:endParaRPr lang="fr-FR" sz="9600" b="1" dirty="0">
              <a:solidFill>
                <a:schemeClr val="accent2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5904CEF-1892-5A7C-972D-A54DF3C0CF21}"/>
              </a:ext>
            </a:extLst>
          </p:cNvPr>
          <p:cNvSpPr txBox="1"/>
          <p:nvPr/>
        </p:nvSpPr>
        <p:spPr>
          <a:xfrm>
            <a:off x="716692" y="3311266"/>
            <a:ext cx="1147530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800" b="1" dirty="0">
                <a:solidFill>
                  <a:srgbClr val="C00000"/>
                </a:solidFill>
              </a:rPr>
              <a:t>应当一无挂虑，只要凡事藉着祷告、祈求和感谢，将你们所要的告诉神。</a:t>
            </a:r>
          </a:p>
          <a:p>
            <a:endParaRPr lang="zh-CN" altLang="fr-FR" dirty="0"/>
          </a:p>
        </p:txBody>
      </p:sp>
    </p:spTree>
    <p:extLst>
      <p:ext uri="{BB962C8B-B14F-4D97-AF65-F5344CB8AC3E}">
        <p14:creationId xmlns:p14="http://schemas.microsoft.com/office/powerpoint/2010/main" val="360427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851" y="0"/>
            <a:ext cx="9175275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8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048C-643E-E6CB-160F-5A316C05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CE2F275-77A4-4807-B6B4-CD62204D4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2B464527-F344-6D11-6B30-726A91F3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174" y="1509623"/>
            <a:ext cx="9891346" cy="4332879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fr-FR" sz="6700" b="1" dirty="0">
                <a:solidFill>
                  <a:srgbClr val="FFC000"/>
                </a:solidFill>
                <a:ea typeface="华文中宋"/>
              </a:rPr>
              <a:t>主日证道</a:t>
            </a:r>
            <a:r>
              <a:rPr lang="fr-FR" altLang="zh-CN" sz="6700" b="1" dirty="0">
                <a:solidFill>
                  <a:srgbClr val="FFC000"/>
                </a:solidFill>
                <a:ea typeface="华文中宋"/>
              </a:rPr>
              <a:t>:</a:t>
            </a:r>
            <a:br>
              <a:rPr lang="fr-FR" altLang="zh-CN" sz="6700" b="1" dirty="0">
                <a:solidFill>
                  <a:srgbClr val="FFC000"/>
                </a:solidFill>
                <a:ea typeface="华文中宋"/>
              </a:rPr>
            </a:br>
            <a:r>
              <a:rPr lang="fr-FR" altLang="zh-CN" sz="2400" b="1" dirty="0">
                <a:solidFill>
                  <a:srgbClr val="C00000"/>
                </a:solidFill>
                <a:ea typeface="华文中宋"/>
              </a:rPr>
              <a:t>               </a:t>
            </a:r>
            <a:br>
              <a:rPr lang="fr-FR" altLang="zh-CN" sz="2400" b="1" dirty="0">
                <a:solidFill>
                  <a:srgbClr val="C00000"/>
                </a:solidFill>
                <a:ea typeface="华文中宋"/>
              </a:rPr>
            </a:br>
            <a:r>
              <a:rPr lang="fr-FR" altLang="zh-CN" sz="2400" b="1" dirty="0">
                <a:solidFill>
                  <a:srgbClr val="C00000"/>
                </a:solidFill>
                <a:ea typeface="华文中宋"/>
              </a:rPr>
              <a:t>               </a:t>
            </a:r>
            <a:br>
              <a:rPr lang="fr-FR" altLang="zh-CN" sz="2700" b="1" dirty="0">
                <a:solidFill>
                  <a:srgbClr val="C00000"/>
                </a:solidFill>
                <a:ea typeface="华文中宋"/>
              </a:rPr>
            </a:br>
            <a:r>
              <a:rPr lang="zh-CN" altLang="fr-FR" sz="2700" b="1" dirty="0">
                <a:solidFill>
                  <a:srgbClr val="C00000"/>
                </a:solidFill>
                <a:ea typeface="华文中宋"/>
              </a:rPr>
              <a:t>    </a:t>
            </a:r>
            <a:br>
              <a:rPr lang="fr-FR" altLang="zh-CN" sz="2700" b="1" dirty="0">
                <a:solidFill>
                  <a:srgbClr val="C00000"/>
                </a:solidFill>
                <a:ea typeface="华文中宋"/>
              </a:rPr>
            </a:br>
            <a:r>
              <a:rPr lang="fr-FR" altLang="zh-CN" sz="2700" b="1" dirty="0">
                <a:solidFill>
                  <a:srgbClr val="C00000"/>
                </a:solidFill>
                <a:ea typeface="华文中宋"/>
              </a:rPr>
              <a:t>                  </a:t>
            </a:r>
            <a:r>
              <a:rPr lang="zh-CN" altLang="fr-FR" sz="4400" b="1" dirty="0">
                <a:solidFill>
                  <a:srgbClr val="C00000"/>
                </a:solidFill>
                <a:ea typeface="华文中宋"/>
              </a:rPr>
              <a:t>        </a:t>
            </a:r>
            <a:br>
              <a:rPr lang="fr-FR" altLang="zh-CN" sz="4400" b="1" dirty="0">
                <a:solidFill>
                  <a:srgbClr val="C00000"/>
                </a:solidFill>
                <a:ea typeface="华文中宋"/>
              </a:rPr>
            </a:br>
            <a:r>
              <a:rPr lang="zh-CN" altLang="fr-FR" sz="4400" b="1" spc="-1" dirty="0">
                <a:solidFill>
                  <a:srgbClr val="C00000"/>
                </a:solidFill>
                <a:ea typeface="华文中宋"/>
              </a:rPr>
              <a:t>因信称义的福音</a:t>
            </a:r>
            <a:br>
              <a:rPr lang="fr-FR" altLang="zh-CN" sz="4400" b="1" spc="-1" dirty="0"/>
            </a:br>
            <a:r>
              <a:rPr lang="zh-CN" altLang="fr-FR" sz="2700" b="1" spc="-1" dirty="0">
                <a:solidFill>
                  <a:srgbClr val="7030A0"/>
                </a:solidFill>
              </a:rPr>
              <a:t>加拉太书2章</a:t>
            </a:r>
            <a:br>
              <a:rPr lang="fr-FR" altLang="zh-CN" sz="4400" b="1" spc="-1" dirty="0"/>
            </a:br>
            <a:br>
              <a:rPr lang="fr-FR" altLang="zh-CN" sz="4400" b="1" spc="-1" dirty="0"/>
            </a:br>
            <a:br>
              <a:rPr lang="fr-FR" altLang="zh-CN" sz="4400" b="1" spc="-1" dirty="0"/>
            </a:br>
            <a:br>
              <a:rPr lang="fr-FR" altLang="zh-CN" sz="4400" b="1" dirty="0">
                <a:solidFill>
                  <a:schemeClr val="accent2"/>
                </a:solidFill>
                <a:ea typeface="华文中宋"/>
              </a:rPr>
            </a:br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>吳兴隆弟兄 证道, 周国莲宣教士 回应</a:t>
            </a:r>
          </a:p>
        </p:txBody>
      </p:sp>
    </p:spTree>
    <p:extLst>
      <p:ext uri="{BB962C8B-B14F-4D97-AF65-F5344CB8AC3E}">
        <p14:creationId xmlns:p14="http://schemas.microsoft.com/office/powerpoint/2010/main" val="273176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8A6956-F5BB-2602-48EF-A9AB7D0F7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27" y="120770"/>
            <a:ext cx="8915399" cy="1423358"/>
          </a:xfrm>
        </p:spPr>
        <p:txBody>
          <a:bodyPr>
            <a:normAutofit/>
          </a:bodyPr>
          <a:lstStyle/>
          <a:p>
            <a:r>
              <a:rPr lang="zh-CN" altLang="fr-FR" b="1" dirty="0"/>
              <a:t>加拉太书</a:t>
            </a:r>
            <a:r>
              <a:rPr lang="fr-FR" altLang="zh-CN" b="1" dirty="0"/>
              <a:t>2:1-11</a:t>
            </a:r>
            <a:br>
              <a:rPr lang="fr-FR" altLang="zh-CN" dirty="0"/>
            </a:b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7F3639-D479-3BD8-0743-75C2E545C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78" y="1147312"/>
            <a:ext cx="11775056" cy="5589917"/>
          </a:xfrm>
        </p:spPr>
        <p:txBody>
          <a:bodyPr>
            <a:normAutofit fontScale="92500" lnSpcReduction="20000"/>
          </a:bodyPr>
          <a:lstStyle/>
          <a:p>
            <a:r>
              <a:rPr lang="fr-FR" altLang="zh-CN" sz="2200" b="1" dirty="0"/>
              <a:t>1</a:t>
            </a:r>
            <a:r>
              <a:rPr lang="zh-CN" altLang="fr-FR" sz="2200" b="1" dirty="0"/>
              <a:t>过了十四年，我同巴拿巴又上耶路撒冷去，并带着提多同去。</a:t>
            </a:r>
          </a:p>
          <a:p>
            <a:r>
              <a:rPr lang="fr-FR" altLang="zh-CN" sz="2200" b="1" dirty="0"/>
              <a:t>2</a:t>
            </a:r>
            <a:r>
              <a:rPr lang="zh-CN" altLang="fr-FR" sz="2200" b="1" dirty="0"/>
              <a:t>我是奉启示上去的，把我在外邦人中所传的福音，对弟兄们陈说；却是背地里对那有名望之人说的，惟恐我现在，或是从前，徒然奔跑。</a:t>
            </a:r>
          </a:p>
          <a:p>
            <a:r>
              <a:rPr lang="fr-FR" altLang="zh-CN" sz="2200" b="1" dirty="0"/>
              <a:t>3</a:t>
            </a:r>
            <a:r>
              <a:rPr lang="zh-CN" altLang="fr-FR" sz="2200" b="1" dirty="0"/>
              <a:t>但与我同去的提多，虽是希利尼人，也没有勉强他受割礼；</a:t>
            </a:r>
          </a:p>
          <a:p>
            <a:r>
              <a:rPr lang="fr-FR" altLang="zh-CN" sz="2200" b="1" dirty="0"/>
              <a:t>4</a:t>
            </a:r>
            <a:r>
              <a:rPr lang="zh-CN" altLang="fr-FR" sz="2200" b="1" dirty="0"/>
              <a:t>因为有偷着引进来的假弟兄，私下窥探我们在基督耶稣里的自由，要叫我们作奴仆。</a:t>
            </a:r>
          </a:p>
          <a:p>
            <a:r>
              <a:rPr lang="fr-FR" altLang="zh-CN" sz="2200" b="1" dirty="0"/>
              <a:t>5</a:t>
            </a:r>
            <a:r>
              <a:rPr lang="zh-CN" altLang="fr-FR" sz="2200" b="1" dirty="0"/>
              <a:t>我们就是一刻的工夫也没有容让顺服他们，为要叫福音的真理仍存在你们中间。</a:t>
            </a:r>
          </a:p>
          <a:p>
            <a:r>
              <a:rPr lang="fr-FR" altLang="zh-CN" sz="2200" b="1" dirty="0"/>
              <a:t>6</a:t>
            </a:r>
            <a:r>
              <a:rPr lang="zh-CN" altLang="fr-FR" sz="2200" b="1" dirty="0"/>
              <a:t>至于那些有名望的，不论他是何等人，都与我无干。神不以外貌取人。那些有名望的，并没有加增我什么，</a:t>
            </a:r>
          </a:p>
          <a:p>
            <a:r>
              <a:rPr lang="fr-FR" altLang="zh-CN" sz="2200" b="1" dirty="0"/>
              <a:t>7</a:t>
            </a:r>
            <a:r>
              <a:rPr lang="zh-CN" altLang="fr-FR" sz="2200" b="1" dirty="0"/>
              <a:t>反倒看见了主托我传福音给那未受割礼的人，正如托彼得传福音给那受割礼的人。</a:t>
            </a:r>
          </a:p>
          <a:p>
            <a:r>
              <a:rPr lang="fr-FR" altLang="zh-CN" sz="2200" b="1" dirty="0"/>
              <a:t>8</a:t>
            </a:r>
            <a:r>
              <a:rPr lang="zh-CN" altLang="fr-FR" sz="2200" b="1" dirty="0"/>
              <a:t>（那感动彼得、叫他为受割礼之人作使徒的，也感动我，叫我为外邦人作使徒；）</a:t>
            </a:r>
          </a:p>
          <a:p>
            <a:r>
              <a:rPr lang="fr-FR" altLang="zh-CN" sz="2200" b="1" dirty="0"/>
              <a:t>9</a:t>
            </a:r>
            <a:r>
              <a:rPr lang="zh-CN" altLang="fr-FR" sz="2200" b="1" dirty="0"/>
              <a:t>又知道所赐给我的恩典，那称为教会柱石的雅各、矶法、约翰，就向我和巴拿巴用右手行相交之礼，叫我们往外邦人那里去，他们往受割礼的人那里去。</a:t>
            </a:r>
          </a:p>
          <a:p>
            <a:r>
              <a:rPr lang="fr-FR" altLang="zh-CN" sz="2200" b="1" dirty="0"/>
              <a:t>10</a:t>
            </a:r>
            <a:r>
              <a:rPr lang="zh-CN" altLang="fr-FR" sz="2200" b="1" dirty="0"/>
              <a:t>只是愿意我们记念穷人；这也是我本来热心去行的。</a:t>
            </a:r>
          </a:p>
          <a:p>
            <a:r>
              <a:rPr lang="fr-FR" altLang="zh-CN" sz="2200" b="1" dirty="0"/>
              <a:t>11</a:t>
            </a:r>
            <a:r>
              <a:rPr lang="zh-CN" altLang="fr-FR" sz="2200" b="1" dirty="0"/>
              <a:t>后来，矶法到了安提阿；因他有可责之处，我就当面抵挡他。</a:t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  <a:r>
              <a:rPr b="1" sz="2000">
                <a:latin typeface="STXingkai"/>
              </a:rPr>
              <a:t/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91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0EBE-43DF-28B1-9F7B-47B6A580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17B06-9777-D663-F3AD-C9C0E283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27" y="120770"/>
            <a:ext cx="8915399" cy="1423358"/>
          </a:xfrm>
        </p:spPr>
        <p:txBody>
          <a:bodyPr>
            <a:normAutofit/>
          </a:bodyPr>
          <a:lstStyle/>
          <a:p>
            <a:r>
              <a:rPr lang="zh-CN" altLang="fr-FR" b="1" dirty="0"/>
              <a:t>加拉太书</a:t>
            </a:r>
            <a:r>
              <a:rPr lang="fr-FR" altLang="zh-CN" b="1" dirty="0"/>
              <a:t>2:12-21</a:t>
            </a:r>
            <a:br>
              <a:rPr lang="fr-FR" altLang="zh-CN" dirty="0"/>
            </a:b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A2A6F3-9E02-1DB2-4B67-426EADC10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78" y="1147312"/>
            <a:ext cx="11775056" cy="5589917"/>
          </a:xfrm>
        </p:spPr>
        <p:txBody>
          <a:bodyPr>
            <a:normAutofit fontScale="92500" lnSpcReduction="20000"/>
          </a:bodyPr>
          <a:lstStyle/>
          <a:p>
            <a:r>
              <a:rPr lang="fr-FR" altLang="zh-CN" sz="2200" b="1" dirty="0"/>
              <a:t>12</a:t>
            </a:r>
            <a:r>
              <a:rPr lang="zh-CN" altLang="fr-FR" sz="2200" b="1" dirty="0"/>
              <a:t>从雅各那里来的人未到以先，他和外邦人一同吃饭，及至他们来到，他因怕奉割礼的人，就退去与外邦人隔开了。</a:t>
            </a:r>
          </a:p>
          <a:p>
            <a:r>
              <a:rPr lang="fr-FR" altLang="zh-CN" sz="2200" b="1" dirty="0"/>
              <a:t>13</a:t>
            </a:r>
            <a:r>
              <a:rPr lang="zh-CN" altLang="fr-FR" sz="2200" b="1" dirty="0"/>
              <a:t>其余的犹太人也都随着他装假，甚至连巴拿巴也随伙装假。</a:t>
            </a:r>
          </a:p>
          <a:p>
            <a:r>
              <a:rPr lang="fr-FR" altLang="zh-CN" sz="2200" b="1" dirty="0"/>
              <a:t>14</a:t>
            </a:r>
            <a:r>
              <a:rPr lang="zh-CN" altLang="fr-FR" sz="2200" b="1" dirty="0"/>
              <a:t>但我一看见他们行的不正，与福音的真理不合，就在众人面前对矶法说：“你既是犹太人，若随外邦人行事，不随犹太人行事，怎么还勉强外邦人随犹太人呢？”</a:t>
            </a:r>
          </a:p>
          <a:p>
            <a:r>
              <a:rPr lang="fr-FR" altLang="zh-CN" sz="2200" b="1" dirty="0"/>
              <a:t>15</a:t>
            </a:r>
            <a:r>
              <a:rPr lang="zh-CN" altLang="fr-FR" sz="2200" b="1" dirty="0"/>
              <a:t>我们这生来的犹太人，不是外邦的罪人；</a:t>
            </a:r>
          </a:p>
          <a:p>
            <a:r>
              <a:rPr lang="fr-FR" altLang="zh-CN" sz="2200" b="1" dirty="0"/>
              <a:t>16</a:t>
            </a:r>
            <a:r>
              <a:rPr lang="zh-CN" altLang="fr-FR" sz="2200" b="1" dirty="0"/>
              <a:t>既知道人称义不是因行律法，乃是因信耶稣基督，连我们也信了基督耶稣，使我们因信基督称义，不因行律法称义；因为凡有血气的，没有一人因行律法称义。</a:t>
            </a:r>
          </a:p>
          <a:p>
            <a:r>
              <a:rPr lang="fr-FR" altLang="zh-CN" sz="2200" b="1" dirty="0"/>
              <a:t>17</a:t>
            </a:r>
            <a:r>
              <a:rPr lang="zh-CN" altLang="fr-FR" sz="2200" b="1" dirty="0"/>
              <a:t>我们若求在基督里称义，却仍旧是罪人，难道基督是叫人犯罪的吗？断乎不是！</a:t>
            </a:r>
          </a:p>
          <a:p>
            <a:r>
              <a:rPr lang="fr-FR" altLang="zh-CN" sz="2200" b="1" dirty="0"/>
              <a:t>18</a:t>
            </a:r>
            <a:r>
              <a:rPr lang="zh-CN" altLang="fr-FR" sz="2200" b="1" dirty="0"/>
              <a:t>我素来所拆毁的，若重新建造，这就证明自己是犯罪的人。</a:t>
            </a:r>
          </a:p>
          <a:p>
            <a:r>
              <a:rPr lang="fr-FR" altLang="zh-CN" sz="2200" b="1" dirty="0"/>
              <a:t>19</a:t>
            </a:r>
            <a:r>
              <a:rPr lang="zh-CN" altLang="fr-FR" sz="2200" b="1" dirty="0"/>
              <a:t>我因律法，就向律法死了，叫我可以向神活着。</a:t>
            </a:r>
          </a:p>
          <a:p>
            <a:r>
              <a:rPr lang="fr-FR" altLang="zh-CN" sz="2200" b="1" dirty="0"/>
              <a:t>20</a:t>
            </a:r>
            <a:r>
              <a:rPr lang="zh-CN" altLang="fr-FR" sz="2200" b="1" dirty="0"/>
              <a:t>我已经与基督同钉十字架，现在活着的不再是我，乃是基督在我里面活着；并且我如今在肉身活着，是因信神的儿子而活；他是爱我，为我舍己。</a:t>
            </a:r>
          </a:p>
          <a:p>
            <a:r>
              <a:rPr lang="fr-FR" altLang="zh-CN" sz="2200" b="1" dirty="0"/>
              <a:t>21</a:t>
            </a:r>
            <a:r>
              <a:rPr lang="zh-CN" altLang="fr-FR" sz="2200" b="1" dirty="0"/>
              <a:t>我不废掉神的恩；义若是藉着律法得的，基督就是徒然死了。</a:t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  <a:r>
              <a:rPr b="1" sz="2000">
                <a:latin typeface="STXingkai"/>
              </a:rPr>
              <a:t/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700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3EAD1-75A6-3FB6-694F-A48D341C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19E723-CF25-98D1-2BEF-00B859811F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36FEB2-0344-B9D5-0D95-89C1409DE329}"/>
              </a:ext>
            </a:extLst>
          </p:cNvPr>
          <p:cNvSpPr/>
          <p:nvPr/>
        </p:nvSpPr>
        <p:spPr>
          <a:xfrm>
            <a:off x="157204" y="-70109"/>
            <a:ext cx="1072777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</a:t>
            </a:r>
            <a:r>
              <a:rPr lang="fr-FR" sz="4000" b="1" dirty="0">
                <a:solidFill>
                  <a:schemeClr val="accent2"/>
                </a:solidFill>
              </a:rPr>
              <a:t>     </a:t>
            </a:r>
            <a:endParaRPr lang="fr-FR" sz="4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501E0-0138-12F5-05CA-6845EBF4BD1F}"/>
              </a:ext>
            </a:extLst>
          </p:cNvPr>
          <p:cNvSpPr/>
          <p:nvPr/>
        </p:nvSpPr>
        <p:spPr>
          <a:xfrm>
            <a:off x="241540" y="-70109"/>
            <a:ext cx="11950459" cy="657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fr-FR" sz="2100" b="1" dirty="0">
                <a:solidFill>
                  <a:srgbClr val="000000"/>
                </a:solidFill>
              </a:rPr>
              <a:t>教会代祷事项报告</a:t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</a:p>
          <a:p>
            <a:endParaRPr lang="zh-CN" altLang="fr-FR" sz="2400" b="1" dirty="0">
              <a:solidFill>
                <a:srgbClr val="000000"/>
              </a:solidFill>
            </a:endParaRPr>
          </a:p>
          <a:p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信望爱基督之家同工开始上街分发福音单张的事工，我们向神感恩，每个世人都有听到福音的权利，每个基督的门徒都有传福音的责任和义务。
</a:t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</a:p>
          <a:p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为国莲姐妹在信望爱基督之家作实习传道来代祷，愿神赐给她智慧和聪明，按正意分解神的道，作无愧的工人，得蒙神喜悦。
</a:t>
            </a:r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为9月份第一周受洗的弟兄姊妹（卜祥峰，张娟娟、王铠，孙浩然,徐彦彬）来祷告，求神坚固信心，每一天都经历神的恩典。
</a:t>
            </a:r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4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为慕道友（白建亮，王子键，黄天舒，金辉，伊佩霖，刘克辉）来祷告，求神的灵来感动他们，好让他们得着上好的福份。
</a:t>
            </a:r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5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为在爱心之家的同工，valentina能够平安顺利地回到法国，向神感恩。
</a:t>
            </a:r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6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为教会软弱的肢体来代求，求神的爱再次交灌他们，使他们重新恢复与神的关系，荣耀归主！
</a:t>
            </a:r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7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为金薇秋姐妹的身体来祷告，求神医治她的身体得以完全康复。
</a:t>
            </a:r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8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为教会在申请或延期居留的（国莲姐妹，卜祥峰弟兄）祷告，若神许可，在这件事上见证神的荣耀！
</a:t>
            </a:r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9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为陈忠勇弟兄的身体，金薇秋姐妹的身体，兴隆弟兄的手指祷告，求神的医治临到，使他们快快康复。
</a:t>
            </a:r>
            <a:r>
              <a:rPr lang="fr-FR" altLang="zh-CN" sz="21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lang="zh-CN" altLang="fr-FR" sz="2100" b="1" dirty="0">
                <a:solidFill>
                  <a:srgbClr val="000000"/>
                </a:solidFill>
                <a:latin typeface="+mn-ea"/>
              </a:rPr>
              <a:t>为在约旦服事的中国宣教士和他们的家庭来祷告，求神赐给他们荣耀的丰富，使他们凡事富足。
</a:t>
            </a:r>
            <a:r>
              <a:rPr sz="2100" b="1" dirty="0">
                <a:solidFill>
                  <a:srgbClr val="000000"/>
                </a:solidFill>
                <a:latin typeface="+mn-ea"/>
              </a:rPr>
              <a:t>11</a:t>
            </a:r>
            <a:r>
              <a:rPr sz="2100" b="1" dirty="0">
                <a:solidFill>
                  <a:srgbClr val="000000"/>
                </a:solidFill>
                <a:latin typeface="STXingkai"/>
              </a:rPr>
              <a:t>为教会的法语老师和同学们来祷告，通过学习法语课,愿意委身，并且来认识神。荣耀主的名！
</a:t>
            </a:r>
            <a:r>
              <a:rPr sz="2100" b="1" dirty="0">
                <a:solidFill>
                  <a:srgbClr val="000000"/>
                </a:solidFill>
                <a:latin typeface="STXingkai"/>
              </a:rPr>
              <a:t>12</a:t>
            </a:r>
            <a:r>
              <a:rPr b="1" sz="2100">
                <a:solidFill>
                  <a:srgbClr val="000000"/>
                </a:solidFill>
                <a:latin typeface="STXingkai"/>
              </a:rPr>
              <a:t>为教会每周二，每周五下午15：30到17：30发放福音单张，求神预备同工，参与传福音的事工，让更多人能听闻福音。
</a:t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  <a:r>
              <a:rPr b="1" sz="2100">
                <a:solidFill>
                  <a:srgbClr val="000000"/>
                </a:solidFill>
                <a:latin typeface="STXingka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09328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048C-643E-E6CB-160F-5A316C05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CE2F275-77A4-4807-B6B4-CD62204D4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934308" y="735310"/>
            <a:ext cx="85473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    </a:t>
            </a:r>
            <a:r>
              <a:rPr lang="zh-CN" altLang="fr-FR" sz="8800" b="1" dirty="0">
                <a:solidFill>
                  <a:srgbClr val="FFC000"/>
                </a:solidFill>
              </a:rPr>
              <a:t>欢迎新朋友</a:t>
            </a:r>
            <a:r>
              <a:rPr lang="fr-FR" sz="8800" dirty="0"/>
              <a:t>                                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6A34E03-E31C-1E26-A70B-F7C1777DD088}"/>
              </a:ext>
            </a:extLst>
          </p:cNvPr>
          <p:cNvSpPr txBox="1"/>
          <p:nvPr/>
        </p:nvSpPr>
        <p:spPr>
          <a:xfrm>
            <a:off x="1029730" y="3854584"/>
            <a:ext cx="110881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5400" b="1" dirty="0">
                <a:solidFill>
                  <a:srgbClr val="C00000"/>
                </a:solidFill>
              </a:rPr>
              <a:t>“当信主耶稣，你和你一家都必得救”</a:t>
            </a:r>
          </a:p>
        </p:txBody>
      </p:sp>
    </p:spTree>
    <p:extLst>
      <p:ext uri="{BB962C8B-B14F-4D97-AF65-F5344CB8AC3E}">
        <p14:creationId xmlns:p14="http://schemas.microsoft.com/office/powerpoint/2010/main" val="4106674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4B7FA-799E-6E03-3063-D2FE7B9B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17F34FC-F662-E131-0C84-9673887284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5A96C2-25ED-0B30-3F28-95FB366943E7}"/>
              </a:ext>
            </a:extLst>
          </p:cNvPr>
          <p:cNvSpPr/>
          <p:nvPr/>
        </p:nvSpPr>
        <p:spPr>
          <a:xfrm>
            <a:off x="1934308" y="735310"/>
            <a:ext cx="85473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    </a:t>
            </a:r>
            <a:r>
              <a:rPr lang="zh-CN" altLang="fr-FR" sz="8800" b="1" dirty="0">
                <a:solidFill>
                  <a:srgbClr val="FFC000"/>
                </a:solidFill>
              </a:rPr>
              <a:t>领受祝福</a:t>
            </a:r>
            <a:r>
              <a:rPr lang="fr-FR" sz="8800" dirty="0"/>
              <a:t>                             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87628-70C3-C2CB-5857-1CD9640D1B21}"/>
              </a:ext>
            </a:extLst>
          </p:cNvPr>
          <p:cNvSpPr/>
          <p:nvPr/>
        </p:nvSpPr>
        <p:spPr>
          <a:xfrm>
            <a:off x="927378" y="3588612"/>
            <a:ext cx="11264622" cy="2369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fr-FR" sz="3600" b="1" dirty="0">
                <a:solidFill>
                  <a:srgbClr val="C00000"/>
                </a:solidFill>
              </a:rPr>
              <a:t>愿恩惠、平安从　神我们的父和主耶稣基督归与你们！</a:t>
            </a:r>
            <a:endParaRPr lang="fr-FR" altLang="zh-CN" sz="3600" b="1" dirty="0">
              <a:solidFill>
                <a:srgbClr val="C00000"/>
              </a:solidFill>
            </a:endParaRPr>
          </a:p>
          <a:p>
            <a:endParaRPr lang="fr-FR" sz="3600" b="1" dirty="0">
              <a:solidFill>
                <a:schemeClr val="accent1"/>
              </a:solidFill>
            </a:endParaRPr>
          </a:p>
          <a:p>
            <a:endParaRPr lang="fr-FR" sz="3600" b="1" dirty="0">
              <a:solidFill>
                <a:schemeClr val="accent1"/>
              </a:solidFill>
            </a:endParaRPr>
          </a:p>
          <a:p>
            <a:r>
              <a:rPr lang="fr-FR" sz="3600" b="1" dirty="0">
                <a:solidFill>
                  <a:schemeClr val="accent1"/>
                </a:solidFill>
              </a:rPr>
              <a:t>               </a:t>
            </a:r>
            <a:endParaRPr lang="fr-FR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500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94F62-DAE2-C1EF-84B0-37823C33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90E1830-6047-9427-5BA1-1727278D4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AE54F85-1617-1EB3-958F-8C2235A29337}"/>
              </a:ext>
            </a:extLst>
          </p:cNvPr>
          <p:cNvSpPr txBox="1"/>
          <p:nvPr/>
        </p:nvSpPr>
        <p:spPr>
          <a:xfrm>
            <a:off x="851143" y="80304"/>
            <a:ext cx="12192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6000" b="1" dirty="0">
                <a:solidFill>
                  <a:schemeClr val="accent2"/>
                </a:solidFill>
              </a:rPr>
              <a:t>聚会结束</a:t>
            </a:r>
            <a:r>
              <a:rPr lang="fr-FR" altLang="zh-CN" sz="6000" b="1" dirty="0">
                <a:solidFill>
                  <a:schemeClr val="accent2"/>
                </a:solidFill>
              </a:rPr>
              <a:t>—</a:t>
            </a:r>
            <a:r>
              <a:rPr lang="zh-CN" altLang="fr-FR" sz="6000" b="1" dirty="0">
                <a:solidFill>
                  <a:schemeClr val="accent2"/>
                </a:solidFill>
              </a:rPr>
              <a:t>彼此祝福后散会</a:t>
            </a:r>
          </a:p>
          <a:p>
            <a:r>
              <a:rPr lang="fr-FR" altLang="zh-CN" sz="3600" b="1" dirty="0"/>
              <a:t>   </a:t>
            </a:r>
          </a:p>
          <a:p>
            <a:r>
              <a:rPr lang="fr-FR" altLang="zh-CN" sz="3600" b="1" dirty="0"/>
              <a:t>      </a:t>
            </a:r>
            <a:r>
              <a:rPr lang="fr-FR" altLang="zh-CN" sz="3600" b="1" dirty="0">
                <a:solidFill>
                  <a:srgbClr val="C00000"/>
                </a:solidFill>
              </a:rPr>
              <a:t>=</a:t>
            </a:r>
            <a:r>
              <a:rPr lang="zh-CN" altLang="fr-FR" sz="3600" b="1" dirty="0">
                <a:solidFill>
                  <a:srgbClr val="C00000"/>
                </a:solidFill>
              </a:rPr>
              <a:t>请大家留步享用爱宴晚餐</a:t>
            </a:r>
            <a:r>
              <a:rPr lang="fr-FR" altLang="zh-CN" sz="3600" b="1" dirty="0">
                <a:solidFill>
                  <a:srgbClr val="C00000"/>
                </a:solidFill>
              </a:rPr>
              <a:t>: 18:00 </a:t>
            </a:r>
            <a:r>
              <a:rPr lang="zh-CN" altLang="fr-FR" sz="3600" b="1" dirty="0">
                <a:solidFill>
                  <a:srgbClr val="C00000"/>
                </a:solidFill>
              </a:rPr>
              <a:t>开饭</a:t>
            </a:r>
          </a:p>
          <a:p>
            <a:r>
              <a:rPr lang="fr-FR" altLang="zh-CN" sz="3600" b="1" dirty="0"/>
              <a:t>      </a:t>
            </a:r>
            <a:r>
              <a:rPr lang="fr-FR" altLang="zh-CN" sz="3600" b="1" dirty="0">
                <a:solidFill>
                  <a:srgbClr val="C00000"/>
                </a:solidFill>
              </a:rPr>
              <a:t>= </a:t>
            </a:r>
            <a:r>
              <a:rPr lang="zh-CN" altLang="fr-FR" sz="3600" b="1" dirty="0">
                <a:solidFill>
                  <a:srgbClr val="C00000"/>
                </a:solidFill>
              </a:rPr>
              <a:t>信望爱基督之家教会事工表</a:t>
            </a:r>
            <a:r>
              <a:rPr lang="fr-FR" altLang="zh-CN" sz="3600" b="1" dirty="0">
                <a:solidFill>
                  <a:srgbClr val="C00000"/>
                </a:solidFill>
              </a:rPr>
              <a:t>:</a:t>
            </a:r>
            <a:r>
              <a:rPr lang="fr-FR" altLang="zh-CN" sz="3600" b="1" dirty="0"/>
              <a:t> 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学法文小组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星期天 </a:t>
            </a:r>
            <a:r>
              <a:rPr lang="fr-FR" altLang="zh-CN" sz="2800" b="1" dirty="0">
                <a:solidFill>
                  <a:srgbClr val="002060"/>
                </a:solidFill>
              </a:rPr>
              <a:t>13:30-14:30  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主日崇拜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星期天     </a:t>
            </a:r>
            <a:r>
              <a:rPr lang="fr-FR" altLang="zh-CN" sz="2800" b="1" dirty="0">
                <a:solidFill>
                  <a:srgbClr val="002060"/>
                </a:solidFill>
              </a:rPr>
              <a:t>15:00-17:00</a:t>
            </a:r>
            <a:r>
              <a:rPr lang="zh-CN" altLang="fr-FR" sz="2800" b="1" dirty="0">
                <a:solidFill>
                  <a:srgbClr val="002060"/>
                </a:solidFill>
              </a:rPr>
              <a:t>                           </a:t>
            </a:r>
            <a:endParaRPr lang="fr-FR" altLang="zh-CN" sz="2800" b="1" dirty="0">
              <a:solidFill>
                <a:srgbClr val="002060"/>
              </a:solidFill>
            </a:endParaRPr>
          </a:p>
          <a:p>
            <a:r>
              <a:rPr lang="fr-FR" altLang="zh-CN" sz="2800" b="1" dirty="0">
                <a:solidFill>
                  <a:srgbClr val="002060"/>
                </a:solidFill>
              </a:rPr>
              <a:t>						</a:t>
            </a:r>
            <a:r>
              <a:rPr lang="zh-CN" altLang="fr-FR" sz="2800" b="1" dirty="0">
                <a:solidFill>
                  <a:srgbClr val="002060"/>
                </a:solidFill>
              </a:rPr>
              <a:t>旷野小组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星期三     </a:t>
            </a:r>
            <a:r>
              <a:rPr lang="fr-FR" altLang="zh-CN" sz="2800" b="1" dirty="0">
                <a:solidFill>
                  <a:srgbClr val="002060"/>
                </a:solidFill>
              </a:rPr>
              <a:t>20:30-22:30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荒漠小组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星期四     </a:t>
            </a:r>
            <a:r>
              <a:rPr lang="fr-FR" altLang="zh-CN" sz="2800" b="1" dirty="0">
                <a:solidFill>
                  <a:srgbClr val="002060"/>
                </a:solidFill>
              </a:rPr>
              <a:t>20:00-21:30 ( </a:t>
            </a:r>
            <a:r>
              <a:rPr lang="zh-CN" altLang="fr-FR" sz="2800" b="1" dirty="0">
                <a:solidFill>
                  <a:srgbClr val="002060"/>
                </a:solidFill>
              </a:rPr>
              <a:t>线上</a:t>
            </a:r>
            <a:r>
              <a:rPr lang="fr-FR" altLang="zh-CN" sz="2800" b="1" dirty="0">
                <a:solidFill>
                  <a:srgbClr val="002060"/>
                </a:solidFill>
              </a:rPr>
              <a:t>)</a:t>
            </a:r>
          </a:p>
          <a:p>
            <a:r>
              <a:rPr lang="fr-FR" altLang="zh-CN" sz="2800" b="1" dirty="0">
                <a:solidFill>
                  <a:srgbClr val="002060"/>
                </a:solidFill>
              </a:rPr>
              <a:t>                           </a:t>
            </a:r>
            <a:r>
              <a:rPr lang="zh-CN" altLang="fr-FR" sz="2800" b="1" dirty="0">
                <a:solidFill>
                  <a:srgbClr val="002060"/>
                </a:solidFill>
              </a:rPr>
              <a:t>祷告小组</a:t>
            </a:r>
            <a:r>
              <a:rPr lang="fr-FR" altLang="zh-CN" sz="2800" b="1" dirty="0">
                <a:solidFill>
                  <a:srgbClr val="002060"/>
                </a:solidFill>
              </a:rPr>
              <a:t>- </a:t>
            </a:r>
            <a:r>
              <a:rPr lang="zh-CN" altLang="fr-FR" sz="2800" b="1" dirty="0">
                <a:solidFill>
                  <a:srgbClr val="002060"/>
                </a:solidFill>
              </a:rPr>
              <a:t>星期六    </a:t>
            </a:r>
            <a:r>
              <a:rPr lang="fr-FR" altLang="zh-CN" sz="2800" b="1" dirty="0">
                <a:solidFill>
                  <a:srgbClr val="002060"/>
                </a:solidFill>
              </a:rPr>
              <a:t>16:00-18:00</a:t>
            </a:r>
          </a:p>
          <a:p>
            <a:r>
              <a:rPr lang="fr-FR" altLang="zh-CN" sz="3600" b="1" dirty="0">
                <a:solidFill>
                  <a:schemeClr val="accent2"/>
                </a:solidFill>
              </a:rPr>
              <a:t>        </a:t>
            </a:r>
          </a:p>
          <a:p>
            <a:r>
              <a:rPr lang="fr-FR" altLang="zh-CN" sz="3600" b="1" dirty="0">
                <a:solidFill>
                  <a:schemeClr val="accent2"/>
                </a:solidFill>
              </a:rPr>
              <a:t>        </a:t>
            </a:r>
            <a:r>
              <a:rPr lang="zh-CN" altLang="fr-FR" sz="3600" b="1" dirty="0">
                <a:solidFill>
                  <a:schemeClr val="accent2"/>
                </a:solidFill>
              </a:rPr>
              <a:t>诚挚欢迎大家再来</a:t>
            </a:r>
            <a:r>
              <a:rPr lang="fr-FR" altLang="zh-CN" sz="3600" b="1" dirty="0">
                <a:solidFill>
                  <a:schemeClr val="accent2"/>
                </a:solidFill>
              </a:rPr>
              <a:t>, </a:t>
            </a:r>
            <a:r>
              <a:rPr lang="zh-CN" altLang="fr-FR" sz="3600" b="1" dirty="0">
                <a:solidFill>
                  <a:schemeClr val="accent2"/>
                </a:solidFill>
              </a:rPr>
              <a:t>一起认识基督耶稣</a:t>
            </a:r>
            <a:endParaRPr lang="fr-FR" sz="3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7477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5295</Words>
  <Application>Microsoft Office PowerPoint</Application>
  <PresentationFormat>Grand écran</PresentationFormat>
  <Paragraphs>211</Paragraphs>
  <Slides>24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4" baseType="lpstr">
      <vt:lpstr>STXingkai</vt:lpstr>
      <vt:lpstr>华文中宋</vt:lpstr>
      <vt:lpstr>幼圆</vt:lpstr>
      <vt:lpstr>Algerian</vt:lpstr>
      <vt:lpstr>Arial</vt:lpstr>
      <vt:lpstr>Calibri</vt:lpstr>
      <vt:lpstr>Century Gothic</vt:lpstr>
      <vt:lpstr>Matura MT Script Capitals</vt:lpstr>
      <vt:lpstr>Wingdings 3</vt:lpstr>
      <vt:lpstr>Brin</vt:lpstr>
      <vt:lpstr>Présentation PowerPoint</vt:lpstr>
      <vt:lpstr>         宣召经文提后书  2：21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主日证道:                                                                 同心合意，兴旺福音。生命成长，建立教会。 以弗所书4:1-32       吳兴隆弟兄 证道, 周国莲宣教士 回应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creator>Microsoft Office User</dc:creator>
  <cp:lastModifiedBy>WANG Zijan (GRDF)</cp:lastModifiedBy>
  <cp:revision>365</cp:revision>
  <dcterms:created xsi:type="dcterms:W3CDTF">2024-11-16T18:47:01Z</dcterms:created>
  <dcterms:modified xsi:type="dcterms:W3CDTF">2026-09-11T19:31:56Z</dcterms:modified>
</cp:coreProperties>
</file>