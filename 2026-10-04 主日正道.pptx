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964" r:id="rId1"/>
  </p:sldMasterIdLst>
  <p:notesMasterIdLst>
    <p:notesMasterId r:id="rId26"/>
  </p:notesMasterIdLst>
  <p:sldIdLst>
    <p:sldId id="257" r:id="rId2"/>
    <p:sldId id="259" r:id="rId3"/>
    <p:sldId id="294" r:id="rId4"/>
    <p:sldId id="494" r:id="rId7"/>
    <p:sldId id="495" r:id="rId6"/>
    <p:sldId id="496" r:id="rId5"/>
    <p:sldId id="455" r:id="rId8"/>
    <p:sldId id="297" r:id="rId9"/>
    <p:sldId id="317" r:id="rId10"/>
    <p:sldId id="478" r:id="rId11"/>
    <p:sldId id="480" r:id="rId12"/>
    <p:sldId id="487" r:id="rId19"/>
    <p:sldId id="497" r:id="rId21"/>
    <p:sldId id="488" r:id="rId20"/>
    <p:sldId id="332" r:id="rId22"/>
    <p:sldId id="321" r:id="rId23"/>
    <p:sldId id="333" r:id="rId24"/>
    <p:sldId id="33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4" autoAdjust="0"/>
    <p:restoredTop sz="94731" autoAdjust="0"/>
  </p:normalViewPr>
  <p:slideViewPr>
    <p:cSldViewPr snapToGrid="0">
      <p:cViewPr varScale="1">
        <p:scale>
          <a:sx n="90" d="100"/>
          <a:sy n="90" d="100"/>
        </p:scale>
        <p:origin x="36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15.xml"/><Relationship Id="rId21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34328-2618-4516-8CA7-109892CA23B7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63CCF-625A-4FFF-A445-F8775908C5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238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50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444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802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356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9161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631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709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062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01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4672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5603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0985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4034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094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2511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4263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F4992-EDBD-DF45-BBD3-7FA1F5296A25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C6C079C-E420-F247-95EE-2CDF1FF213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475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5" r:id="rId1"/>
    <p:sldLayoutId id="2147484966" r:id="rId2"/>
    <p:sldLayoutId id="2147484967" r:id="rId3"/>
    <p:sldLayoutId id="2147484968" r:id="rId4"/>
    <p:sldLayoutId id="2147484969" r:id="rId5"/>
    <p:sldLayoutId id="2147484970" r:id="rId6"/>
    <p:sldLayoutId id="2147484971" r:id="rId7"/>
    <p:sldLayoutId id="2147484972" r:id="rId8"/>
    <p:sldLayoutId id="2147484973" r:id="rId9"/>
    <p:sldLayoutId id="2147484974" r:id="rId10"/>
    <p:sldLayoutId id="2147484975" r:id="rId11"/>
    <p:sldLayoutId id="2147484976" r:id="rId12"/>
    <p:sldLayoutId id="2147484977" r:id="rId13"/>
    <p:sldLayoutId id="2147484978" r:id="rId14"/>
    <p:sldLayoutId id="2147484979" r:id="rId15"/>
    <p:sldLayoutId id="214748498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92E7C99-C1C0-5D75-1869-4DE50C91491E}"/>
              </a:ext>
            </a:extLst>
          </p:cNvPr>
          <p:cNvSpPr txBox="1"/>
          <p:nvPr/>
        </p:nvSpPr>
        <p:spPr>
          <a:xfrm>
            <a:off x="2545492" y="511431"/>
            <a:ext cx="73563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7200" b="1" dirty="0">
                <a:solidFill>
                  <a:srgbClr val="FFC000"/>
                </a:solidFill>
                <a:latin typeface="Algerian" panose="04020705040A02060702" pitchFamily="82" charset="0"/>
              </a:rPr>
              <a:t>信望爱基督之家</a:t>
            </a:r>
            <a:endParaRPr lang="fr-FR" altLang="zh-CN" sz="7200" b="1" dirty="0">
              <a:solidFill>
                <a:srgbClr val="FFC000"/>
              </a:solidFill>
              <a:latin typeface="Algerian" panose="04020705040A02060702" pitchFamily="82" charset="0"/>
            </a:endParaRPr>
          </a:p>
          <a:p>
            <a:r>
              <a:rPr lang="fr-FR" sz="3600" b="1" dirty="0">
                <a:solidFill>
                  <a:srgbClr val="FFC000"/>
                </a:solidFill>
                <a:latin typeface="Matura MT Script Capitals" panose="03020802060602070202" pitchFamily="66" charset="0"/>
              </a:rPr>
              <a:t>     </a:t>
            </a:r>
            <a:r>
              <a:rPr lang="fr-FR" sz="3200" b="1" dirty="0">
                <a:solidFill>
                  <a:srgbClr val="FFC000"/>
                </a:solidFill>
                <a:latin typeface="Matura MT Script Capitals" panose="03020802060602070202" pitchFamily="66" charset="0"/>
              </a:rPr>
              <a:t>Eglise la Maison du Christ </a:t>
            </a:r>
          </a:p>
          <a:p>
            <a:endParaRPr lang="fr-FR" sz="3200" b="1" dirty="0">
              <a:solidFill>
                <a:srgbClr val="FFC000"/>
              </a:solidFill>
              <a:latin typeface="Matura MT Script Capitals" panose="03020802060602070202" pitchFamily="66" charset="0"/>
            </a:endParaRPr>
          </a:p>
          <a:p>
            <a:r>
              <a:rPr lang="fr-FR" sz="3200" b="1" dirty="0">
                <a:solidFill>
                  <a:srgbClr val="FFC000"/>
                </a:solidFill>
                <a:latin typeface="Matura MT Script Capitals" panose="03020802060602070202" pitchFamily="66" charset="0"/>
              </a:rPr>
              <a:t>         </a:t>
            </a:r>
            <a:r>
              <a:rPr lang="zh-CN" altLang="fr-FR" sz="8000" b="1" dirty="0">
                <a:solidFill>
                  <a:srgbClr val="FFC000"/>
                </a:solidFill>
                <a:latin typeface="Matura MT Script Capitals" panose="03020802060602070202" pitchFamily="66" charset="0"/>
              </a:rPr>
              <a:t>主日崇拜</a:t>
            </a:r>
            <a:endParaRPr lang="fr-FR" altLang="zh-CN" sz="8000" b="1" dirty="0">
              <a:solidFill>
                <a:srgbClr val="FFC000"/>
              </a:solidFill>
              <a:latin typeface="Matura MT Script Capitals" panose="03020802060602070202" pitchFamily="66" charset="0"/>
            </a:endParaRPr>
          </a:p>
          <a:p>
            <a:r>
              <a:rPr sz="2000" b="1">
                <a:latin typeface="STXingkai"/>
              </a:rPr>
              <a:t/>
            </a:r>
            <a:r>
              <a:rPr b="1" sz="2000">
                <a:latin typeface="STXingkai"/>
              </a:rPr>
              <a:t>                  04/10/2026</a:t>
            </a:r>
            <a:r>
              <a:rPr b="1" sz="2000">
                <a:latin typeface="STXingkai"/>
              </a:rPr>
              <a:t> 15h-17h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5DDE902-DC87-5208-6700-3B4CF8CAF5F0}"/>
              </a:ext>
            </a:extLst>
          </p:cNvPr>
          <p:cNvSpPr txBox="1"/>
          <p:nvPr/>
        </p:nvSpPr>
        <p:spPr>
          <a:xfrm>
            <a:off x="1876653" y="4853650"/>
            <a:ext cx="96715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2800" b="1" dirty="0"/>
              <a:t>如今常存的有</a:t>
            </a:r>
            <a:r>
              <a:rPr lang="zh-CN" altLang="fr-FR" sz="2800" b="1" dirty="0">
                <a:solidFill>
                  <a:srgbClr val="FFC000"/>
                </a:solidFill>
              </a:rPr>
              <a:t>信</a:t>
            </a:r>
            <a:r>
              <a:rPr lang="zh-CN" altLang="fr-FR" sz="2800" b="1" dirty="0"/>
              <a:t>，有</a:t>
            </a:r>
            <a:r>
              <a:rPr lang="zh-CN" altLang="fr-FR" sz="2800" b="1" dirty="0">
                <a:solidFill>
                  <a:srgbClr val="FFC000"/>
                </a:solidFill>
              </a:rPr>
              <a:t>望</a:t>
            </a:r>
            <a:r>
              <a:rPr lang="zh-CN" altLang="fr-FR" sz="2800" b="1" dirty="0"/>
              <a:t>，有</a:t>
            </a:r>
            <a:r>
              <a:rPr lang="zh-CN" altLang="fr-FR" sz="2800" b="1" dirty="0">
                <a:solidFill>
                  <a:srgbClr val="FFC000"/>
                </a:solidFill>
              </a:rPr>
              <a:t>爱</a:t>
            </a:r>
            <a:r>
              <a:rPr lang="zh-CN" altLang="fr-FR" sz="2800" b="1" dirty="0"/>
              <a:t>；这三样，其中最大的是</a:t>
            </a:r>
            <a:r>
              <a:rPr lang="zh-CN" altLang="fr-FR" sz="2800" b="1" dirty="0">
                <a:solidFill>
                  <a:srgbClr val="FFC000"/>
                </a:solidFill>
              </a:rPr>
              <a:t>爱</a:t>
            </a:r>
            <a:r>
              <a:rPr lang="zh-CN" altLang="fr-FR" sz="2800" b="1" dirty="0"/>
              <a:t>。
 同心合意，兴旺福音。生命成长，建立教会
                                接待 陈忠勇弟兄</a:t>
            </a:r>
            <a:endParaRPr lang="fr-FR" altLang="zh-CN" sz="2800" b="1" dirty="0"/>
          </a:p>
          <a:p>
            <a:endParaRPr lang="fr-FR" sz="2800" b="1" dirty="0"/>
          </a:p>
          <a:p>
            <a:r>
              <a:rPr lang="fr-FR" sz="2800" b="1" dirty="0"/>
              <a:t>           </a:t>
            </a:r>
          </a:p>
          <a:p>
            <a:r>
              <a:rPr lang="fr-FR" altLang="zh-CN" sz="2800" b="1" dirty="0">
                <a:solidFill>
                  <a:srgbClr val="FFC000"/>
                </a:solidFill>
              </a:rPr>
              <a:t>                         </a:t>
            </a:r>
            <a:r>
              <a:rPr lang="zh-CN" altLang="fr-FR" sz="2800" b="1" dirty="0">
                <a:solidFill>
                  <a:srgbClr val="FFC000"/>
                </a:solidFill>
              </a:rPr>
              <a:t>接待</a:t>
            </a:r>
            <a:r>
              <a:rPr lang="fr-FR" altLang="zh-CN" sz="2800" b="1" dirty="0">
                <a:solidFill>
                  <a:srgbClr val="FFC000"/>
                </a:solidFill>
              </a:rPr>
              <a:t>:  </a:t>
            </a:r>
            <a:r>
              <a:rPr lang="zh-CN" altLang="fr-FR" sz="2800" b="1" dirty="0">
                <a:solidFill>
                  <a:srgbClr val="FFC000"/>
                </a:solidFill>
              </a:rPr>
              <a:t>宋利忠弟兄</a:t>
            </a:r>
            <a:endParaRPr lang="fr-FR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620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2B464527-F344-6D11-6B30-726A91F3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8493" y="295772"/>
            <a:ext cx="8991600" cy="1283438"/>
          </a:xfrm>
        </p:spPr>
        <p:txBody>
          <a:bodyPr>
            <a:normAutofit fontScale="90000"/>
          </a:bodyPr>
          <a:lstStyle/>
          <a:p>
            <a:r>
              <a:rPr lang="zh-CN" altLang="fr-FR" sz="6000" b="1" dirty="0">
                <a:solidFill>
                  <a:srgbClr val="7030A0"/>
                </a:solidFill>
                <a:ea typeface="华文中宋"/>
              </a:rPr>
              <a:t>         </a:t>
            </a:r>
            <a:r>
              <a:rPr lang="zh-CN" altLang="fr-FR" sz="8000" b="1" dirty="0">
                <a:solidFill>
                  <a:srgbClr val="FFC000"/>
                </a:solidFill>
                <a:ea typeface="华文中宋"/>
              </a:rPr>
              <a:t>宣召经文</a:t>
            </a:r>
            <a:r>
              <a:rPr lang="zh-CN" altLang="fr-FR" sz="2000" b="1" dirty="0">
                <a:solidFill>
                  <a:srgbClr val="FFC000"/>
                </a:solidFill>
                <a:ea typeface="华文中宋"/>
              </a:rPr>
              <a:t>约翰福音</a:t>
            </a:r>
            <a:r>
              <a:rPr sz="2000" b="1">
                <a:latin typeface="STXingkai"/>
              </a:rPr>
              <a:t/>
            </a:r>
            <a:r>
              <a:rPr b="1" sz="2000">
                <a:latin typeface="STXingkai"/>
              </a:rPr>
              <a:t>15：5</a:t>
            </a:r>
            <a:r>
              <a:rPr b="1" sz="2000">
                <a:latin typeface="STXingka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923192" y="2166324"/>
            <a:ext cx="1126880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fr-FR" sz="4000" b="1" dirty="0"/>
          </a:p>
          <a:p>
            <a:r>
              <a:rPr lang="fr-FR" altLang="zh-CN" sz="4000" b="1" dirty="0"/>
              <a:t>	</a:t>
            </a:r>
            <a:r>
              <a:rPr lang="zh-CN" altLang="fr-FR" sz="4000" b="1" dirty="0">
                <a:solidFill>
                  <a:srgbClr val="C00000"/>
                </a:solidFill>
              </a:rPr>
              <a:t>我是葡萄树，你们是枝子；常在我里面的，我也常在他里面，这人就多结果子；因为离了我,你们就不能作什么。</a:t>
            </a:r>
            <a:endParaRPr lang="fr-FR" altLang="zh-CN" sz="4000" b="1" dirty="0">
              <a:solidFill>
                <a:srgbClr val="C00000"/>
              </a:solidFill>
            </a:endParaRPr>
          </a:p>
          <a:p>
            <a:endParaRPr lang="fr-FR" sz="4000" b="1" dirty="0">
              <a:solidFill>
                <a:srgbClr val="C00000"/>
              </a:solidFill>
            </a:endParaRPr>
          </a:p>
          <a:p>
            <a:r>
              <a:rPr lang="fr-FR" sz="4000" b="1" dirty="0">
                <a:solidFill>
                  <a:srgbClr val="C00000"/>
                </a:solidFill>
              </a:rPr>
              <a:t>                            </a:t>
            </a:r>
            <a:r>
              <a:rPr lang="zh-CN" altLang="fr-FR" sz="2800" b="1" dirty="0">
                <a:solidFill>
                  <a:srgbClr val="FFC000"/>
                </a:solidFill>
              </a:rPr>
              <a:t>周国莲宣教士</a:t>
            </a:r>
            <a:endParaRPr lang="fr-FR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516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B0869FC9-FAE0-A12F-E802-94706478A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7" y="324037"/>
            <a:ext cx="9362114" cy="1871005"/>
          </a:xfrm>
        </p:spPr>
        <p:txBody>
          <a:bodyPr>
            <a:noAutofit/>
          </a:bodyPr>
          <a:lstStyle/>
          <a:p>
            <a:r>
              <a:rPr lang="zh-CN" altLang="fr-FR" sz="9600" b="1" dirty="0">
                <a:solidFill>
                  <a:srgbClr val="7030A0"/>
                </a:solidFill>
                <a:ea typeface="华文中宋"/>
              </a:rPr>
              <a:t>         </a:t>
            </a:r>
            <a:r>
              <a:rPr lang="zh-CN" altLang="fr-FR" sz="9600" b="1" dirty="0">
                <a:solidFill>
                  <a:srgbClr val="FFC000"/>
                </a:solidFill>
                <a:ea typeface="华文中宋"/>
              </a:rPr>
              <a:t>敬拜赞美      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E3E2845-AE6A-F044-034C-BD2EA1E73C8A}"/>
              </a:ext>
            </a:extLst>
          </p:cNvPr>
          <p:cNvSpPr txBox="1"/>
          <p:nvPr/>
        </p:nvSpPr>
        <p:spPr>
          <a:xfrm>
            <a:off x="2042984" y="3429000"/>
            <a:ext cx="101490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4000" b="1" dirty="0">
                <a:solidFill>
                  <a:srgbClr val="C00000"/>
                </a:solidFill>
              </a:rPr>
              <a:t>我要向耶和华歌唱，因他用厚恩待我</a:t>
            </a:r>
            <a:endParaRPr lang="fr-FR" altLang="zh-CN" sz="4000" b="1" dirty="0">
              <a:solidFill>
                <a:srgbClr val="C00000"/>
              </a:solidFill>
            </a:endParaRPr>
          </a:p>
          <a:p>
            <a:endParaRPr lang="fr-FR" sz="4000" b="1" dirty="0">
              <a:solidFill>
                <a:srgbClr val="C00000"/>
              </a:solidFill>
            </a:endParaRPr>
          </a:p>
          <a:p>
            <a:endParaRPr lang="fr-FR" sz="4000" b="1" dirty="0">
              <a:solidFill>
                <a:schemeClr val="accent2"/>
              </a:solidFill>
            </a:endParaRPr>
          </a:p>
          <a:p>
            <a:endParaRPr lang="fr-FR" sz="4000" b="1" dirty="0">
              <a:solidFill>
                <a:schemeClr val="accent2"/>
              </a:solidFill>
            </a:endParaRPr>
          </a:p>
          <a:p>
            <a:r>
              <a:rPr lang="fr-FR" sz="4000" b="1" dirty="0">
                <a:solidFill>
                  <a:schemeClr val="accent2"/>
                </a:solidFill>
              </a:rPr>
              <a:t>                  </a:t>
            </a:r>
            <a:r>
              <a:rPr lang="zh-CN" altLang="fr-FR" sz="3200" b="1" dirty="0">
                <a:solidFill>
                  <a:srgbClr val="FFC000"/>
                </a:solidFill>
              </a:rPr>
              <a:t>徐霞姐妹 巩象学弟兄</a:t>
            </a:r>
            <a:endParaRPr lang="fr-FR" sz="32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17264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2CA5-96C8-27C8-E556-CB16E700F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E8B6A12-C68D-CA47-3E4A-17054DE16A29}"/>
              </a:ext>
            </a:extLst>
          </p:cNvPr>
          <p:cNvSpPr txBox="1"/>
          <p:nvPr/>
        </p:nvSpPr>
        <p:spPr>
          <a:xfrm>
            <a:off x="2284213" y="130415"/>
            <a:ext cx="89607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9600" b="1" dirty="0">
                <a:solidFill>
                  <a:schemeClr val="accent2"/>
                </a:solidFill>
              </a:rPr>
              <a:t>同心合意祷告</a:t>
            </a:r>
            <a:endParaRPr lang="fr-FR" sz="9600" b="1" dirty="0">
              <a:solidFill>
                <a:schemeClr val="accent2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5904CEF-1892-5A7C-972D-A54DF3C0CF21}"/>
              </a:ext>
            </a:extLst>
          </p:cNvPr>
          <p:cNvSpPr txBox="1"/>
          <p:nvPr/>
        </p:nvSpPr>
        <p:spPr>
          <a:xfrm>
            <a:off x="716692" y="3311266"/>
            <a:ext cx="1147530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4800" b="1" dirty="0">
                <a:solidFill>
                  <a:srgbClr val="C00000"/>
                </a:solidFill>
              </a:rPr>
              <a:t>应当一无挂虑，只要凡事藉着祷告、祈求和感谢，将你们所要的告诉神。</a:t>
            </a:r>
          </a:p>
          <a:p>
            <a:endParaRPr lang="zh-CN" altLang="fr-FR" dirty="0"/>
          </a:p>
        </p:txBody>
      </p:sp>
    </p:spTree>
    <p:extLst>
      <p:ext uri="{BB962C8B-B14F-4D97-AF65-F5344CB8AC3E}">
        <p14:creationId xmlns:p14="http://schemas.microsoft.com/office/powerpoint/2010/main" val="360427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851" y="0"/>
            <a:ext cx="9175275" cy="68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8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048C-643E-E6CB-160F-5A316C05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CE2F275-77A4-4807-B6B4-CD62204D45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2B464527-F344-6D11-6B30-726A91F3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174" y="1509623"/>
            <a:ext cx="9891346" cy="4332879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fr-FR" sz="6700" b="1" dirty="0">
                <a:solidFill>
                  <a:srgbClr val="FFC000"/>
                </a:solidFill>
                <a:ea typeface="华文中宋"/>
              </a:rPr>
              <a:t>主日证道</a:t>
            </a:r>
            <a:r>
              <a:rPr lang="fr-FR" altLang="zh-CN" sz="6700" b="1" dirty="0">
                <a:solidFill>
                  <a:srgbClr val="FFC000"/>
                </a:solidFill>
                <a:ea typeface="华文中宋"/>
              </a:rPr>
              <a:t>:</a:t>
            </a:r>
            <a:br>
              <a:rPr lang="fr-FR" altLang="zh-CN" sz="6700" b="1" dirty="0">
                <a:solidFill>
                  <a:srgbClr val="FFC000"/>
                </a:solidFill>
                <a:ea typeface="华文中宋"/>
              </a:rPr>
            </a:br>
            <a:r>
              <a:rPr lang="fr-FR" altLang="zh-CN" sz="2400" b="1" dirty="0">
                <a:solidFill>
                  <a:srgbClr val="C00000"/>
                </a:solidFill>
                <a:ea typeface="华文中宋"/>
              </a:rPr>
              <a:t>               </a:t>
            </a:r>
            <a:br>
              <a:rPr lang="fr-FR" altLang="zh-CN" sz="2400" b="1" dirty="0">
                <a:solidFill>
                  <a:srgbClr val="C00000"/>
                </a:solidFill>
                <a:ea typeface="华文中宋"/>
              </a:rPr>
            </a:br>
            <a:r>
              <a:rPr lang="fr-FR" altLang="zh-CN" sz="2400" b="1" dirty="0">
                <a:solidFill>
                  <a:srgbClr val="C00000"/>
                </a:solidFill>
                <a:ea typeface="华文中宋"/>
              </a:rPr>
              <a:t>               </a:t>
            </a:r>
            <a:br>
              <a:rPr lang="fr-FR" altLang="zh-CN" sz="2700" b="1" dirty="0">
                <a:solidFill>
                  <a:srgbClr val="C00000"/>
                </a:solidFill>
                <a:ea typeface="华文中宋"/>
              </a:rPr>
            </a:br>
            <a:r>
              <a:rPr lang="zh-CN" altLang="fr-FR" sz="2700" b="1" dirty="0">
                <a:solidFill>
                  <a:srgbClr val="C00000"/>
                </a:solidFill>
                <a:ea typeface="华文中宋"/>
              </a:rPr>
              <a:t>    </a:t>
            </a:r>
            <a:br>
              <a:rPr lang="fr-FR" altLang="zh-CN" sz="2700" b="1" dirty="0">
                <a:solidFill>
                  <a:srgbClr val="C00000"/>
                </a:solidFill>
                <a:ea typeface="华文中宋"/>
              </a:rPr>
            </a:br>
            <a:r>
              <a:rPr lang="fr-FR" altLang="zh-CN" sz="2700" b="1" dirty="0">
                <a:solidFill>
                  <a:srgbClr val="C00000"/>
                </a:solidFill>
                <a:ea typeface="华文中宋"/>
              </a:rPr>
              <a:t>                  </a:t>
            </a:r>
            <a:r>
              <a:rPr lang="zh-CN" altLang="fr-FR" sz="4400" b="1" dirty="0">
                <a:solidFill>
                  <a:srgbClr val="C00000"/>
                </a:solidFill>
                <a:ea typeface="华文中宋"/>
              </a:rPr>
              <a:t>        </a:t>
            </a:r>
            <a:br>
              <a:rPr lang="fr-FR" altLang="zh-CN" sz="4400" b="1" dirty="0">
                <a:solidFill>
                  <a:srgbClr val="C00000"/>
                </a:solidFill>
                <a:ea typeface="华文中宋"/>
              </a:rPr>
            </a:br>
            <a:r>
              <a:rPr lang="zh-CN" altLang="fr-FR" sz="4400" b="1" spc="-1" dirty="0">
                <a:solidFill>
                  <a:srgbClr val="C00000"/>
                </a:solidFill>
                <a:ea typeface="华文中宋"/>
              </a:rPr>
              <a:t>重生得救的真理</a:t>
            </a:r>
            <a:br>
              <a:rPr lang="fr-FR" altLang="zh-CN" sz="4400" b="1" spc="-1" dirty="0"/>
            </a:br>
            <a:r>
              <a:rPr lang="zh-CN" altLang="fr-FR" sz="2700" b="1" spc="-1" dirty="0">
                <a:solidFill>
                  <a:srgbClr val="7030A0"/>
                </a:solidFill>
              </a:rPr>
              <a:t>加拉太书5章</a:t>
            </a:r>
            <a:br>
              <a:rPr lang="fr-FR" altLang="zh-CN" sz="4400" b="1" spc="-1" dirty="0"/>
            </a:br>
            <a:br>
              <a:rPr lang="fr-FR" altLang="zh-CN" sz="4400" b="1" spc="-1" dirty="0"/>
            </a:br>
            <a:br>
              <a:rPr lang="fr-FR" altLang="zh-CN" sz="4400" b="1" spc="-1" dirty="0"/>
            </a:br>
            <a:br>
              <a:rPr lang="fr-FR" altLang="zh-CN" sz="4400" b="1" dirty="0">
                <a:solidFill>
                  <a:schemeClr val="accent2"/>
                </a:solidFill>
                <a:ea typeface="华文中宋"/>
              </a:rPr>
            </a:br>
            <a:r>
              <a:rPr sz="2000" b="1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>吳兴隆弟兄 证道, 周国莲宣教士 回应</a:t>
            </a:r>
          </a:p>
        </p:txBody>
      </p:sp>
    </p:spTree>
    <p:extLst>
      <p:ext uri="{BB962C8B-B14F-4D97-AF65-F5344CB8AC3E}">
        <p14:creationId xmlns:p14="http://schemas.microsoft.com/office/powerpoint/2010/main" val="273176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8A6956-F5BB-2602-48EF-A9AB7D0F7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27" y="120770"/>
            <a:ext cx="8915399" cy="1423358"/>
          </a:xfrm>
        </p:spPr>
        <p:txBody>
          <a:bodyPr>
            <a:normAutofit/>
          </a:bodyPr>
          <a:lstStyle/>
          <a:p>
            <a:r>
              <a:rPr lang="zh-CN" altLang="fr-FR" b="1" dirty="0"/>
              <a:t>加拉太书</a:t>
            </a:r>
            <a:r>
              <a:rPr lang="fr-FR" altLang="zh-CN" b="1" dirty="0"/>
              <a:t>5:1-13</a:t>
            </a:r>
            <a:br>
              <a:rPr lang="fr-FR" altLang="zh-CN" dirty="0"/>
            </a:b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7F3639-D479-3BD8-0743-75C2E545C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178" y="1147312"/>
            <a:ext cx="11775056" cy="5589917"/>
          </a:xfrm>
        </p:spPr>
        <p:txBody>
          <a:bodyPr>
            <a:normAutofit fontScale="92500" lnSpcReduction="20000"/>
          </a:bodyPr>
          <a:lstStyle/>
          <a:p>
            <a:r>
              <a:rPr lang="fr-FR" altLang="zh-CN" sz="2200" b="1" dirty="0"/>
              <a:t>1</a:t>
            </a:r>
            <a:r>
              <a:rPr lang="zh-CN" altLang="fr-FR" sz="2200" b="1" dirty="0"/>
              <a:t>基督释放了我们，叫我们得以自由。所以要站立得稳，不要再被奴仆的轭挟制。</a:t>
            </a:r>
          </a:p>
          <a:p>
            <a:r>
              <a:rPr lang="fr-FR" altLang="zh-CN" sz="2200" b="1" dirty="0"/>
              <a:t>2</a:t>
            </a:r>
            <a:r>
              <a:rPr lang="zh-CN" altLang="fr-FR" sz="2200" b="1" dirty="0"/>
              <a:t>我保罗告诉你们，若受割礼，基督就与你们无益了。</a:t>
            </a:r>
          </a:p>
          <a:p>
            <a:r>
              <a:rPr lang="fr-FR" altLang="zh-CN" sz="2200" b="1" dirty="0"/>
              <a:t>3</a:t>
            </a:r>
            <a:r>
              <a:rPr lang="zh-CN" altLang="fr-FR" sz="2200" b="1" dirty="0"/>
              <a:t>我再指着凡受割礼的人确实的说，他是欠着行全律法的债。</a:t>
            </a:r>
          </a:p>
          <a:p>
            <a:r>
              <a:rPr lang="fr-FR" altLang="zh-CN" sz="2200" b="1" dirty="0"/>
              <a:t>4</a:t>
            </a:r>
            <a:r>
              <a:rPr lang="zh-CN" altLang="fr-FR" sz="2200" b="1" dirty="0"/>
              <a:t>你们这要靠律法称义的，是与基督隔绝，从恩典中坠落了。</a:t>
            </a:r>
          </a:p>
          <a:p>
            <a:r>
              <a:rPr lang="fr-FR" altLang="zh-CN" sz="2200" b="1" dirty="0"/>
              <a:t>5</a:t>
            </a:r>
            <a:r>
              <a:rPr lang="zh-CN" altLang="fr-FR" sz="2200" b="1" dirty="0"/>
              <a:t>我们靠着圣灵，凭着信心，等候所盼望的义。</a:t>
            </a:r>
          </a:p>
          <a:p>
            <a:r>
              <a:rPr lang="fr-FR" altLang="zh-CN" sz="2200" b="1" dirty="0"/>
              <a:t>6</a:t>
            </a:r>
            <a:r>
              <a:rPr lang="zh-CN" altLang="fr-FR" sz="2200" b="1" dirty="0"/>
              <a:t>原来在基督耶稣里，受割礼不受割礼全无功效，惟独使人生发仁爱的信心才有功效。</a:t>
            </a:r>
          </a:p>
          <a:p>
            <a:r>
              <a:rPr lang="fr-FR" altLang="zh-CN" sz="2200" b="1" dirty="0"/>
              <a:t>7</a:t>
            </a:r>
            <a:r>
              <a:rPr lang="zh-CN" altLang="fr-FR" sz="2200" b="1" dirty="0"/>
              <a:t>你们向来跑得好，有谁拦阻你们，叫你们不顺从真理呢？</a:t>
            </a:r>
          </a:p>
          <a:p>
            <a:r>
              <a:rPr lang="fr-FR" altLang="zh-CN" sz="2200" b="1" dirty="0"/>
              <a:t>8</a:t>
            </a:r>
            <a:r>
              <a:rPr lang="zh-CN" altLang="fr-FR" sz="2200" b="1" dirty="0"/>
              <a:t>这样的劝导不是出于那召你们的。</a:t>
            </a:r>
          </a:p>
          <a:p>
            <a:r>
              <a:rPr lang="fr-FR" altLang="zh-CN" sz="2200" b="1" dirty="0"/>
              <a:t>9</a:t>
            </a:r>
            <a:r>
              <a:rPr lang="zh-CN" altLang="fr-FR" sz="2200" b="1" dirty="0"/>
              <a:t>一点面酵能使全团都发起来。</a:t>
            </a:r>
          </a:p>
          <a:p>
            <a:r>
              <a:rPr lang="fr-FR" altLang="zh-CN" sz="2200" b="1" dirty="0"/>
              <a:t>10</a:t>
            </a:r>
            <a:r>
              <a:rPr lang="zh-CN" altLang="fr-FR" sz="2200" b="1" dirty="0"/>
              <a:t>我在主里很信你们必不怀别样的心；但搅扰你们的，无论是谁，必担当他的罪名。</a:t>
            </a:r>
          </a:p>
          <a:p>
            <a:r>
              <a:rPr lang="fr-FR" altLang="zh-CN" sz="2200" b="1" dirty="0"/>
              <a:t>11</a:t>
            </a:r>
            <a:r>
              <a:rPr lang="zh-CN" altLang="fr-FR" sz="2200" b="1" dirty="0"/>
              <a:t>弟兄们，我若仍旧传割礼，为什么还受逼迫呢？若是这样，那十字架讨厌的地方就没有了。</a:t>
            </a:r>
          </a:p>
          <a:p>
            <a:r>
              <a:rPr lang="fr-FR" altLang="zh-CN" sz="2200" b="1" dirty="0"/>
              <a:t>12</a:t>
            </a:r>
            <a:r>
              <a:rPr lang="zh-CN" altLang="fr-FR" sz="2200" b="1" dirty="0"/>
              <a:t>恨不得那搅乱你们的人把自己割绝了。</a:t>
            </a:r>
          </a:p>
          <a:p>
            <a:r>
              <a:rPr lang="fr-FR" altLang="zh-CN" sz="2200" b="1" dirty="0"/>
              <a:t>13</a:t>
            </a:r>
            <a:r>
              <a:rPr lang="zh-CN" altLang="fr-FR" sz="2200" b="1" dirty="0"/>
              <a:t>弟兄们，你们蒙召是要得自由，只是不可将你们的自由当作放纵情欲的机会，总要用爱心互相服事。</a:t>
            </a:r>
          </a:p>
          <a:p>
            <a:r>
              <a:rPr lang="fr-FR" altLang="zh-CN" sz="2200" b="1" dirty="0"/>
              <a:t/>
            </a:r>
            <a:r>
              <a:rPr lang="zh-CN" altLang="fr-FR" sz="2200" b="1" dirty="0"/>
              <a:t/>
            </a:r>
            <a:r>
              <a:rPr b="1" sz="2000">
                <a:latin typeface="STXingkai"/>
              </a:rPr>
              <a:t/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913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0EBE-43DF-28B1-9F7B-47B6A5809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A17B06-9777-D663-F3AD-C9C0E283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27" y="120770"/>
            <a:ext cx="8915399" cy="1423358"/>
          </a:xfrm>
        </p:spPr>
        <p:txBody>
          <a:bodyPr>
            <a:normAutofit/>
          </a:bodyPr>
          <a:lstStyle/>
          <a:p>
            <a:r>
              <a:rPr lang="zh-CN" altLang="fr-FR" b="1" dirty="0"/>
              <a:t>加拉太书</a:t>
            </a:r>
            <a:r>
              <a:rPr lang="fr-FR" altLang="zh-CN" b="1" dirty="0"/>
              <a:t>5:14-26</a:t>
            </a:r>
            <a:br>
              <a:rPr lang="fr-FR" altLang="zh-CN" dirty="0"/>
            </a:b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r>
              <a:rPr b="1" sz="2000">
                <a:latin typeface="STXingkai"/>
              </a:rPr>
              <a:t/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A2A6F3-9E02-1DB2-4B67-426EADC10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178" y="1147312"/>
            <a:ext cx="11775056" cy="5589917"/>
          </a:xfrm>
        </p:spPr>
        <p:txBody>
          <a:bodyPr>
            <a:normAutofit fontScale="92500" lnSpcReduction="20000"/>
          </a:bodyPr>
          <a:lstStyle/>
          <a:p>
            <a:r>
              <a:rPr lang="fr-FR" altLang="zh-CN" sz="2200" b="1" dirty="0"/>
              <a:t>14</a:t>
            </a:r>
            <a:r>
              <a:rPr lang="zh-CN" altLang="fr-FR" sz="2200" b="1" dirty="0"/>
              <a:t>因为全律法都包在“爱人如己”这一句话之内了。</a:t>
            </a:r>
          </a:p>
          <a:p>
            <a:r>
              <a:rPr lang="fr-FR" altLang="zh-CN" sz="2200" b="1" dirty="0"/>
              <a:t>15</a:t>
            </a:r>
            <a:r>
              <a:rPr lang="zh-CN" altLang="fr-FR" sz="2200" b="1" dirty="0"/>
              <a:t>你们要谨慎，若相咬相吞，只怕要彼此消灭了。</a:t>
            </a:r>
          </a:p>
          <a:p>
            <a:r>
              <a:rPr lang="fr-FR" altLang="zh-CN" sz="2200" b="1" dirty="0"/>
              <a:t>16</a:t>
            </a:r>
            <a:r>
              <a:rPr lang="zh-CN" altLang="fr-FR" sz="2200" b="1" dirty="0"/>
              <a:t>我说，你们当顺着圣灵而行，就不放纵肉体的情欲了。</a:t>
            </a:r>
          </a:p>
          <a:p>
            <a:r>
              <a:rPr lang="fr-FR" altLang="zh-CN" sz="2200" b="1" dirty="0"/>
              <a:t>17</a:t>
            </a:r>
            <a:r>
              <a:rPr lang="zh-CN" altLang="fr-FR" sz="2200" b="1" dirty="0"/>
              <a:t>因为情欲和圣灵相争，圣灵和情欲相争，这两个是彼此相敌，使你们不能作所愿意作的。</a:t>
            </a:r>
          </a:p>
          <a:p>
            <a:r>
              <a:rPr lang="fr-FR" altLang="zh-CN" sz="2200" b="1" dirty="0"/>
              <a:t>18</a:t>
            </a:r>
            <a:r>
              <a:rPr lang="zh-CN" altLang="fr-FR" sz="2200" b="1" dirty="0"/>
              <a:t>但你们若被圣灵引导，就不在律法以下。</a:t>
            </a:r>
          </a:p>
          <a:p>
            <a:r>
              <a:rPr lang="fr-FR" altLang="zh-CN" sz="2200" b="1" dirty="0"/>
              <a:t>19</a:t>
            </a:r>
            <a:r>
              <a:rPr lang="zh-CN" altLang="fr-FR" sz="2200" b="1" dirty="0"/>
              <a:t>情欲的事都是显而易见的，就如奸淫、污秽、邪荡、</a:t>
            </a:r>
          </a:p>
          <a:p>
            <a:r>
              <a:rPr lang="fr-FR" altLang="zh-CN" sz="2200" b="1" dirty="0"/>
              <a:t>20</a:t>
            </a:r>
            <a:r>
              <a:rPr lang="zh-CN" altLang="fr-FR" sz="2200" b="1" dirty="0"/>
              <a:t>拜偶像、邪术、仇恨、争竞、忌恨、恼怒、结党、纷争、异端、</a:t>
            </a:r>
          </a:p>
          <a:p>
            <a:r>
              <a:rPr lang="fr-FR" altLang="zh-CN" sz="2200" b="1" dirty="0"/>
              <a:t>21</a:t>
            </a:r>
            <a:r>
              <a:rPr lang="zh-CN" altLang="fr-FR" sz="2200" b="1" dirty="0"/>
              <a:t>嫉妒（有古卷在此有：凶杀二字）、醉酒、荒宴等类。我从前告诉你们，现在又告诉你们，行这样事的人必不能承受神的国。</a:t>
            </a:r>
          </a:p>
          <a:p>
            <a:r>
              <a:rPr lang="fr-FR" altLang="zh-CN" sz="2200" b="1" dirty="0"/>
              <a:t>22</a:t>
            </a:r>
            <a:r>
              <a:rPr lang="zh-CN" altLang="fr-FR" sz="2200" b="1" dirty="0"/>
              <a:t>圣灵所结的果子，就是仁爱、喜乐、和平、忍耐、恩慈、良善、信实、</a:t>
            </a:r>
          </a:p>
          <a:p>
            <a:r>
              <a:rPr lang="fr-FR" altLang="zh-CN" sz="2200" b="1" dirty="0"/>
              <a:t>23</a:t>
            </a:r>
            <a:r>
              <a:rPr lang="zh-CN" altLang="fr-FR" sz="2200" b="1" dirty="0"/>
              <a:t>温柔、节制。这样的事，没有律法禁止。</a:t>
            </a:r>
          </a:p>
          <a:p>
            <a:r>
              <a:rPr lang="fr-FR" altLang="zh-CN" sz="2200" b="1" dirty="0"/>
              <a:t>24</a:t>
            </a:r>
            <a:r>
              <a:rPr lang="zh-CN" altLang="fr-FR" sz="2200" b="1" dirty="0"/>
              <a:t>凡属基督耶稣的人，是已经把肉体连肉体的邪情私欲同钉在十字架上了。</a:t>
            </a:r>
          </a:p>
          <a:p>
            <a:r>
              <a:rPr lang="fr-FR" altLang="zh-CN" sz="2200" b="1" dirty="0"/>
              <a:t>25</a:t>
            </a:r>
            <a:r>
              <a:rPr lang="zh-CN" altLang="fr-FR" sz="2200" b="1" dirty="0"/>
              <a:t>我们若是靠圣灵得生，就当靠圣灵行事。</a:t>
            </a:r>
          </a:p>
          <a:p>
            <a:r>
              <a:rPr lang="fr-FR" altLang="zh-CN" sz="2200" b="1" dirty="0"/>
              <a:t>26</a:t>
            </a:r>
            <a:r>
              <a:rPr lang="zh-CN" altLang="fr-FR" sz="2200" b="1" dirty="0"/>
              <a:t>不要贪图虚名，彼此惹气，互相嫉妒。</a:t>
            </a:r>
          </a:p>
          <a:p>
            <a:r>
              <a:rPr lang="fr-FR" altLang="zh-CN" sz="2200" b="1" dirty="0"/>
              <a:t/>
            </a:r>
            <a:r>
              <a:rPr lang="zh-CN" altLang="fr-FR" sz="2200" b="1" dirty="0"/>
              <a:t/>
            </a:r>
            <a:r>
              <a:rPr b="1" sz="2000">
                <a:latin typeface="STXingkai"/>
              </a:rPr>
              <a:t/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700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A73BF-E929-71B3-2820-2A1573E5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690AA3-E356-6085-1784-31EEDF17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27" y="120770"/>
            <a:ext cx="8915399" cy="1423358"/>
          </a:xfrm>
        </p:spPr>
        <p:txBody>
          <a:bodyPr>
            <a:normAutofit/>
          </a:bodyPr>
          <a:lstStyle/>
          <a:p>
            <a:r>
              <a:rPr lang="zh-CN" altLang="fr-FR" b="1" dirty="0" sz="5000">
                <a:solidFill>
                  <a:srgbClr val="000000"/>
                </a:solidFill>
              </a:rPr>
              <a:t/>
            </a:r>
            <a:r>
              <a:rPr lang="fr-FR" altLang="zh-CN" b="1" dirty="0" sz="5000">
                <a:solidFill>
                  <a:srgbClr val="000000"/>
                </a:solidFill>
              </a:rPr>
              <a:t/>
            </a:r>
            <a:br>
              <a:rPr lang="fr-FR" altLang="zh-CN" dirty="0"/>
            </a:br>
            <a:r>
              <a:rPr b="1" sz="5000">
                <a:solidFill>
                  <a:srgbClr val="000000"/>
                </a:solidFill>
                <a:latin typeface="STXingkai"/>
              </a:rPr>
              <a:t/>
            </a:r>
            <a:r>
              <a:rPr b="1" sz="5000">
                <a:solidFill>
                  <a:srgbClr val="000000"/>
                </a:solidFill>
                <a:latin typeface="STXingkai"/>
              </a:rPr>
              <a:t/>
            </a:r>
            <a:r>
              <a:rPr b="1" sz="5000">
                <a:solidFill>
                  <a:srgbClr val="000000"/>
                </a:solidFill>
                <a:latin typeface="STXingkai"/>
              </a:rPr>
              <a:t/>
            </a:r>
            <a:r>
              <a:rPr b="1" sz="5000">
                <a:solidFill>
                  <a:srgbClr val="000000"/>
                </a:solidFill>
                <a:latin typeface="STXingkai"/>
              </a:rPr>
              <a:t/>
            </a:r>
            <a:r>
              <a:rPr b="1" sz="5000">
                <a:solidFill>
                  <a:srgbClr val="000000"/>
                </a:solidFill>
                <a:latin typeface="STXingkai"/>
              </a:rPr>
              <a:t/>
            </a:r>
            <a:r>
              <a:rPr b="1" sz="5000">
                <a:solidFill>
                  <a:srgbClr val="000000"/>
                </a:solidFill>
                <a:latin typeface="STXingkai"/>
              </a:rPr>
              <a:t/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70651D-E9E0-9A4F-8BE3-C455914D3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178" y="1147312"/>
            <a:ext cx="11775056" cy="5589917"/>
          </a:xfrm>
        </p:spPr>
        <p:txBody>
          <a:bodyPr>
            <a:normAutofit fontScale="92500" lnSpcReduction="20000"/>
          </a:bodyPr>
          <a:lstStyle/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>                                圣餐</a:t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>耶稣说：“我就是生命的粮。到我这里来的，必定不饿；信我的，也必永远不渴。”</a:t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5000" b="1" dirty="0">
                <a:solidFill>
                  <a:srgbClr val="000000"/>
                </a:solidFill>
              </a:rPr>
              <a:t/>
            </a:r>
            <a:r>
              <a:rPr lang="zh-CN" altLang="fr-FR" sz="5000" b="1" dirty="0">
                <a:solidFill>
                  <a:srgbClr val="000000"/>
                </a:solidFill>
              </a:rPr>
              <a:t/>
            </a:r>
            <a:r>
              <a:rPr b="1" sz="5000">
                <a:solidFill>
                  <a:srgbClr val="000000"/>
                </a:solidFill>
                <a:latin typeface="STXingkai"/>
              </a:rPr>
              <a:t/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6339998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5FA3-13CD-E2F6-5499-6F12CEC04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C07E35-B887-6F88-48B5-46AB41EE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27" y="120770"/>
            <a:ext cx="8915399" cy="1423358"/>
          </a:xfrm>
        </p:spPr>
        <p:txBody>
          <a:bodyPr>
            <a:normAutofit/>
          </a:bodyPr>
          <a:lstStyle/>
          <a:p>
            <a:r>
              <a:rPr lang="zh-CN" altLang="fr-FR" b="1" dirty="0" sz="3300">
                <a:solidFill>
                  <a:srgbClr val="000000"/>
                </a:solidFill>
              </a:rPr>
              <a:t>信望爱9月份财务
</a:t>
            </a:r>
            <a:r>
              <a:rPr lang="fr-FR" altLang="zh-CN" b="1" dirty="0" sz="3300">
                <a:solidFill>
                  <a:srgbClr val="000000"/>
                </a:solidFill>
              </a:rPr>
              <a:t/>
            </a:r>
            <a:br>
              <a:rPr lang="fr-FR" altLang="zh-CN" dirty="0"/>
            </a:br>
            <a:r>
              <a:rPr b="1" sz="3300">
                <a:solidFill>
                  <a:srgbClr val="000000"/>
                </a:solidFill>
                <a:latin typeface="STXingkai"/>
              </a:rPr>
              <a:t/>
            </a:r>
            <a:r>
              <a:rPr b="1" sz="3300">
                <a:solidFill>
                  <a:srgbClr val="000000"/>
                </a:solidFill>
                <a:latin typeface="STXingkai"/>
              </a:rPr>
              <a:t/>
            </a:r>
            <a:r>
              <a:rPr b="1" sz="3300">
                <a:solidFill>
                  <a:srgbClr val="000000"/>
                </a:solidFill>
                <a:latin typeface="STXingkai"/>
              </a:rPr>
              <a:t/>
            </a:r>
            <a:r>
              <a:rPr b="1" sz="3300">
                <a:solidFill>
                  <a:srgbClr val="000000"/>
                </a:solidFill>
                <a:latin typeface="STXingkai"/>
              </a:rPr>
              <a:t/>
            </a:r>
            <a:r>
              <a:rPr b="1" sz="3300">
                <a:solidFill>
                  <a:srgbClr val="000000"/>
                </a:solidFill>
                <a:latin typeface="STXingkai"/>
              </a:rPr>
              <a:t/>
            </a:r>
            <a:r>
              <a:rPr b="1" sz="3300">
                <a:solidFill>
                  <a:srgbClr val="000000"/>
                </a:solidFill>
                <a:latin typeface="STXingkai"/>
              </a:rPr>
              <a:t/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7EC0D3-3EED-9BA9-655D-46F35C24B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178" y="1147312"/>
            <a:ext cx="11775056" cy="5589917"/>
          </a:xfrm>
        </p:spPr>
        <p:txBody>
          <a:bodyPr>
            <a:normAutofit fontScale="92500" lnSpcReduction="20000"/>
          </a:bodyPr>
          <a:lstStyle/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>8月份奉献余额5195.24欧元</a:t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>9月份奉献收入1000欧元</a:t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>9月份支出</a:t>
            </a:r>
            <a:r>
              <a:rPr lang="zh-CN" altLang="fr-FR" sz="33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> * 爱宴支出：279.66欧元</a:t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> * 水笼头更换：42.32欧元</a:t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> * 银行卡支付：协会费用: 15欧元</a:t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> * 支持国莲姐妹奉禄：600欧元</a:t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> * 学习法语课的费用：100欧元</a:t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> * 扶持帮助支体费用：100欧元</a:t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>9月份结余5058.26欧元</a:t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/>
            </a:r>
          </a:p>
          <a:p>
            <a:r>
              <a:rPr lang="fr-FR" altLang="zh-CN" sz="3300" b="1" dirty="0">
                <a:solidFill>
                  <a:srgbClr val="000000"/>
                </a:solidFill>
              </a:rPr>
              <a:t/>
            </a:r>
            <a:r>
              <a:rPr lang="zh-CN" altLang="fr-FR" sz="3300" b="1" dirty="0">
                <a:solidFill>
                  <a:srgbClr val="000000"/>
                </a:solidFill>
              </a:rPr>
              <a:t/>
            </a:r>
            <a:r>
              <a:rPr b="1" sz="3300">
                <a:solidFill>
                  <a:srgbClr val="000000"/>
                </a:solidFill>
                <a:latin typeface="STXingkai"/>
              </a:rPr>
              <a:t/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5718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3EAD1-75A6-3FB6-694F-A48D341C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519E723-CF25-98D1-2BEF-00B859811F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36FEB2-0344-B9D5-0D95-89C1409DE329}"/>
              </a:ext>
            </a:extLst>
          </p:cNvPr>
          <p:cNvSpPr/>
          <p:nvPr/>
        </p:nvSpPr>
        <p:spPr>
          <a:xfrm>
            <a:off x="157204" y="-70109"/>
            <a:ext cx="1072777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8800" b="1" dirty="0"/>
              <a:t> </a:t>
            </a:r>
            <a:r>
              <a:rPr lang="fr-FR" sz="4000" b="1" dirty="0">
                <a:solidFill>
                  <a:schemeClr val="accent2"/>
                </a:solidFill>
              </a:rPr>
              <a:t>     </a:t>
            </a:r>
            <a:endParaRPr lang="fr-FR" sz="4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8501E0-0138-12F5-05CA-6845EBF4BD1F}"/>
              </a:ext>
            </a:extLst>
          </p:cNvPr>
          <p:cNvSpPr/>
          <p:nvPr/>
        </p:nvSpPr>
        <p:spPr>
          <a:xfrm>
            <a:off x="241540" y="-70109"/>
            <a:ext cx="11950459" cy="657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fr-FR" sz="1900" b="1" dirty="0">
                <a:solidFill>
                  <a:srgbClr val="000000"/>
                </a:solidFill>
              </a:rPr>
              <a:t>教会代祷事项报告</a:t>
            </a:r>
            <a:r>
              <a:rPr b="1" sz="1900">
                <a:solidFill>
                  <a:srgbClr val="000000"/>
                </a:solidFill>
                <a:latin typeface="STXingkai"/>
              </a:rPr>
              <a:t/>
            </a:r>
          </a:p>
          <a:p>
            <a:endParaRPr lang="zh-CN" altLang="fr-FR" sz="2400" b="1" dirty="0">
              <a:solidFill>
                <a:srgbClr val="000000"/>
              </a:solidFill>
            </a:endParaRPr>
          </a:p>
          <a:p>
            <a:r>
              <a:rPr lang="fr-FR" altLang="zh-CN" sz="1900" b="1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fr-FR" sz="1900" b="1" dirty="0">
                <a:solidFill>
                  <a:srgbClr val="000000"/>
                </a:solidFill>
                <a:latin typeface="+mn-ea"/>
              </a:rPr>
              <a:t>信望爱基督之家同工开始上街分发福音单张的事工，我们向神感恩，每个世人都有听到福音的权利，每个基督的门徒都有传福音的责任和义务。</a:t>
            </a:r>
            <a:r>
              <a:rPr b="1" sz="1900">
                <a:solidFill>
                  <a:srgbClr val="000000"/>
                </a:solidFill>
                <a:latin typeface="STXingkai"/>
              </a:rPr>
              <a:t/>
            </a:r>
          </a:p>
          <a:p>
            <a:r>
              <a:rPr lang="fr-FR" altLang="zh-CN" sz="1900" b="1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fr-FR" sz="1900" b="1" dirty="0">
                <a:solidFill>
                  <a:srgbClr val="000000"/>
                </a:solidFill>
                <a:latin typeface="+mn-ea"/>
              </a:rPr>
              <a:t>恳请为爱心之家10月23-25号在巴黎基督国度教会首次举办的［宣教使命差遣］大会迫切祷告，愿神亲自带领每位参与的弟兄姊妹同在，被圣灵来充满，让他们更清楚明白基督徒所蒙的恩召，宣教的使命。
</a:t>
            </a:r>
            <a:r>
              <a:rPr lang="fr-FR" altLang="zh-CN" sz="1900" b="1" dirty="0">
                <a:solidFill>
                  <a:srgbClr val="000000"/>
                </a:solidFill>
                <a:latin typeface="+mn-ea"/>
              </a:rPr>
              <a:t>3</a:t>
            </a:r>
            <a:r>
              <a:rPr lang="zh-CN" altLang="fr-FR" sz="1900" b="1" dirty="0">
                <a:solidFill>
                  <a:srgbClr val="000000"/>
                </a:solidFill>
                <a:latin typeface="+mn-ea"/>
              </a:rPr>
              <a:t>为国莲姐妹在信望爱基督之家作实习传道来代祷，愿神赐给她智慧和聪明，按正意分解神的道，作无愧的工人，得蒙神喜悦。
</a:t>
            </a:r>
            <a:r>
              <a:rPr lang="fr-FR" altLang="zh-CN" sz="1900" b="1" dirty="0">
                <a:solidFill>
                  <a:srgbClr val="000000"/>
                </a:solidFill>
                <a:latin typeface="+mn-ea"/>
              </a:rPr>
              <a:t>4</a:t>
            </a:r>
            <a:r>
              <a:rPr lang="zh-CN" altLang="fr-FR" sz="1900" b="1" dirty="0">
                <a:solidFill>
                  <a:srgbClr val="000000"/>
                </a:solidFill>
                <a:latin typeface="+mn-ea"/>
              </a:rPr>
              <a:t>为9月份第一周受洗的弟兄姊妹（卜祥峰，张娟娟、王铠，孙浩然,徐彦彬）来祷告，求神坚固信心，每一天都经历神的恩典。
</a:t>
            </a:r>
            <a:r>
              <a:rPr lang="fr-FR" altLang="zh-CN" sz="1900" b="1" dirty="0">
                <a:solidFill>
                  <a:srgbClr val="000000"/>
                </a:solidFill>
                <a:latin typeface="+mn-ea"/>
              </a:rPr>
              <a:t>5</a:t>
            </a:r>
            <a:r>
              <a:rPr lang="zh-CN" altLang="fr-FR" sz="1900" b="1" dirty="0">
                <a:solidFill>
                  <a:srgbClr val="000000"/>
                </a:solidFill>
                <a:latin typeface="+mn-ea"/>
              </a:rPr>
              <a:t>为慕道友（丁建波，白建亮王子键，张洪伟，杨满荣，张宇，金辉，刘克辉）来祷告，求神的灵来感动他们，好让他们得着上好的福份。
</a:t>
            </a:r>
            <a:r>
              <a:rPr lang="fr-FR" altLang="zh-CN" sz="1900" b="1" dirty="0">
                <a:solidFill>
                  <a:srgbClr val="000000"/>
                </a:solidFill>
                <a:latin typeface="+mn-ea"/>
              </a:rPr>
              <a:t>6</a:t>
            </a:r>
            <a:r>
              <a:rPr lang="zh-CN" altLang="fr-FR" sz="1900" b="1" dirty="0">
                <a:solidFill>
                  <a:srgbClr val="000000"/>
                </a:solidFill>
                <a:latin typeface="+mn-ea"/>
              </a:rPr>
              <a:t>为教会软弱的肢体来代求，求神的爱再次浇灌他们，使他们重新恢复与神的关系，荣耀归主！
</a:t>
            </a:r>
            <a:r>
              <a:rPr lang="fr-FR" altLang="zh-CN" sz="1900" b="1" dirty="0">
                <a:solidFill>
                  <a:srgbClr val="000000"/>
                </a:solidFill>
                <a:latin typeface="+mn-ea"/>
              </a:rPr>
              <a:t>7</a:t>
            </a:r>
            <a:r>
              <a:rPr lang="zh-CN" altLang="fr-FR" sz="1900" b="1" dirty="0">
                <a:solidFill>
                  <a:srgbClr val="000000"/>
                </a:solidFill>
                <a:latin typeface="+mn-ea"/>
              </a:rPr>
              <a:t>为Arron,Maria,Anna,这三个孩子疑难杂症来祷告，在人不能，在神凡事都能！甚愿神的权柄，医治的大能临到徐霞姐妹，藉着她的手来医治他们的身体，使三个孩子完全得以康复，荣耀归主！哈利路亚！
</a:t>
            </a:r>
            <a:r>
              <a:rPr lang="fr-FR" altLang="zh-CN" sz="1900" b="1" dirty="0">
                <a:solidFill>
                  <a:srgbClr val="000000"/>
                </a:solidFill>
                <a:latin typeface="+mn-ea"/>
              </a:rPr>
              <a:t>8</a:t>
            </a:r>
            <a:r>
              <a:rPr lang="zh-CN" altLang="fr-FR" sz="1900" b="1" dirty="0">
                <a:solidFill>
                  <a:srgbClr val="000000"/>
                </a:solidFill>
                <a:latin typeface="+mn-ea"/>
              </a:rPr>
              <a:t>为刚动手术出院的陈忠勇弟兄代祷。求神的医治再次临到，使他身体快快地康复，荣耀归主！为金秋薇，卜祥峰的身体代祷，求神大能的医治临到他们，使他们身体健壮，灵里兴盛. 
</a:t>
            </a:r>
            <a:r>
              <a:rPr lang="fr-FR" altLang="zh-CN" sz="1900" b="1" dirty="0">
                <a:solidFill>
                  <a:srgbClr val="000000"/>
                </a:solidFill>
                <a:latin typeface="+mn-ea"/>
              </a:rPr>
              <a:t>9</a:t>
            </a:r>
            <a:r>
              <a:rPr lang="zh-CN" altLang="fr-FR" sz="1900" b="1" dirty="0">
                <a:solidFill>
                  <a:srgbClr val="000000"/>
                </a:solidFill>
                <a:latin typeface="+mn-ea"/>
              </a:rPr>
              <a:t>为教会在申请或延期居留的（张宇、卜祥峰弟兄，国莲姐妹）祷告，若神许可，在这件事上见证神的荣耀！
</a:t>
            </a:r>
            <a:r>
              <a:rPr lang="fr-FR" altLang="zh-CN" sz="19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lang="zh-CN" altLang="fr-FR" sz="1900" b="1" dirty="0">
                <a:solidFill>
                  <a:srgbClr val="000000"/>
                </a:solidFill>
                <a:latin typeface="+mn-ea"/>
              </a:rPr>
              <a:t>为在约旦服事的中国宣教士和他们的家庭来祷告，求神赐给他们荣耀的丰富，使他们凡事富足。
</a:t>
            </a:r>
            <a:r>
              <a:rPr sz="1900" b="1" dirty="0">
                <a:solidFill>
                  <a:srgbClr val="000000"/>
                </a:solidFill>
                <a:latin typeface="+mn-ea"/>
              </a:rPr>
              <a:t>11</a:t>
            </a:r>
            <a:r>
              <a:rPr sz="1900" b="1" dirty="0">
                <a:solidFill>
                  <a:srgbClr val="000000"/>
                </a:solidFill>
                <a:latin typeface="STXingkai"/>
              </a:rPr>
              <a:t>为教会的法语老师和同学们来祷告，通过学习法语课,愿意委身，并且来认识神。荣耀主的名！
</a:t>
            </a:r>
            <a:r>
              <a:rPr sz="1900" b="1" dirty="0">
                <a:solidFill>
                  <a:srgbClr val="000000"/>
                </a:solidFill>
                <a:latin typeface="STXingkai"/>
              </a:rPr>
              <a:t>12</a:t>
            </a:r>
            <a:r>
              <a:rPr b="1" sz="1900">
                <a:solidFill>
                  <a:srgbClr val="000000"/>
                </a:solidFill>
                <a:latin typeface="STXingkai"/>
              </a:rPr>
              <a:t>为教会每周二，每周五下午15：30到17：30发放福音单张，求神预备同工，参与传福音的事工，让更多人能听闻福音。
</a:t>
            </a:r>
            <a:r>
              <a:rPr b="1" sz="1900">
                <a:solidFill>
                  <a:srgbClr val="000000"/>
                </a:solidFill>
                <a:latin typeface="STXingkai"/>
              </a:rPr>
              <a:t/>
            </a:r>
            <a:r>
              <a:rPr b="1" sz="1900">
                <a:solidFill>
                  <a:srgbClr val="000000"/>
                </a:solidFill>
                <a:latin typeface="STXingkai"/>
              </a:rPr>
              <a:t/>
            </a:r>
            <a:r>
              <a:rPr b="1" sz="1900">
                <a:solidFill>
                  <a:srgbClr val="000000"/>
                </a:solidFill>
                <a:latin typeface="STXingkai"/>
              </a:rPr>
              <a:t/>
            </a:r>
            <a:r>
              <a:rPr b="1" sz="1900">
                <a:solidFill>
                  <a:srgbClr val="000000"/>
                </a:solidFill>
                <a:latin typeface="STXingkai"/>
              </a:rPr>
              <a:t/>
            </a:r>
            <a:r>
              <a:rPr b="1" sz="1900">
                <a:solidFill>
                  <a:srgbClr val="000000"/>
                </a:solidFill>
                <a:latin typeface="STXingkai"/>
              </a:rPr>
              <a:t/>
            </a:r>
            <a:r>
              <a:rPr b="1" sz="1900">
                <a:solidFill>
                  <a:srgbClr val="000000"/>
                </a:solidFill>
                <a:latin typeface="STXingkai"/>
              </a:rPr>
              <a:t/>
            </a:r>
            <a:r>
              <a:rPr b="1" sz="1900">
                <a:solidFill>
                  <a:srgbClr val="000000"/>
                </a:solidFill>
                <a:latin typeface="STXingkai"/>
              </a:rPr>
              <a:t/>
            </a:r>
            <a:r>
              <a:rPr b="1" sz="1900">
                <a:solidFill>
                  <a:srgbClr val="000000"/>
                </a:solidFill>
                <a:latin typeface="STXingka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09328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048C-643E-E6CB-160F-5A316C05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CE2F275-77A4-4807-B6B4-CD62204D45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934308" y="735310"/>
            <a:ext cx="854733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8800" b="1" dirty="0"/>
              <a:t>     </a:t>
            </a:r>
            <a:r>
              <a:rPr lang="zh-CN" altLang="fr-FR" sz="8800" b="1" dirty="0">
                <a:solidFill>
                  <a:srgbClr val="FFC000"/>
                </a:solidFill>
              </a:rPr>
              <a:t>欢迎新朋友</a:t>
            </a:r>
            <a:r>
              <a:rPr lang="fr-FR" sz="8800" dirty="0"/>
              <a:t>                                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6A34E03-E31C-1E26-A70B-F7C1777DD088}"/>
              </a:ext>
            </a:extLst>
          </p:cNvPr>
          <p:cNvSpPr txBox="1"/>
          <p:nvPr/>
        </p:nvSpPr>
        <p:spPr>
          <a:xfrm>
            <a:off x="1029730" y="3854584"/>
            <a:ext cx="110881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5400" b="1" dirty="0">
                <a:solidFill>
                  <a:srgbClr val="C00000"/>
                </a:solidFill>
              </a:rPr>
              <a:t>“当信主耶稣，你和你一家都必得救”</a:t>
            </a:r>
          </a:p>
        </p:txBody>
      </p:sp>
    </p:spTree>
    <p:extLst>
      <p:ext uri="{BB962C8B-B14F-4D97-AF65-F5344CB8AC3E}">
        <p14:creationId xmlns:p14="http://schemas.microsoft.com/office/powerpoint/2010/main" val="4106674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4B7FA-799E-6E03-3063-D2FE7B9B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17F34FC-F662-E131-0C84-9673887284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5A96C2-25ED-0B30-3F28-95FB366943E7}"/>
              </a:ext>
            </a:extLst>
          </p:cNvPr>
          <p:cNvSpPr/>
          <p:nvPr/>
        </p:nvSpPr>
        <p:spPr>
          <a:xfrm>
            <a:off x="1934308" y="735310"/>
            <a:ext cx="854733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8800" b="1" dirty="0"/>
              <a:t>     </a:t>
            </a:r>
            <a:r>
              <a:rPr lang="zh-CN" altLang="fr-FR" sz="8800" b="1" dirty="0">
                <a:solidFill>
                  <a:srgbClr val="FFC000"/>
                </a:solidFill>
              </a:rPr>
              <a:t>领受祝福</a:t>
            </a:r>
            <a:r>
              <a:rPr lang="fr-FR" sz="8800" dirty="0"/>
              <a:t>                              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387628-70C3-C2CB-5857-1CD9640D1B21}"/>
              </a:ext>
            </a:extLst>
          </p:cNvPr>
          <p:cNvSpPr/>
          <p:nvPr/>
        </p:nvSpPr>
        <p:spPr>
          <a:xfrm>
            <a:off x="927378" y="3588612"/>
            <a:ext cx="11264622" cy="23698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fr-FR" sz="3600" b="1" dirty="0">
                <a:solidFill>
                  <a:srgbClr val="C00000"/>
                </a:solidFill>
              </a:rPr>
              <a:t>愿恩惠、平安从　神我们的父和主耶稣基督归与你们！</a:t>
            </a:r>
            <a:endParaRPr lang="fr-FR" altLang="zh-CN" sz="3600" b="1" dirty="0">
              <a:solidFill>
                <a:srgbClr val="C00000"/>
              </a:solidFill>
            </a:endParaRPr>
          </a:p>
          <a:p>
            <a:endParaRPr lang="fr-FR" sz="3600" b="1" dirty="0">
              <a:solidFill>
                <a:schemeClr val="accent1"/>
              </a:solidFill>
            </a:endParaRPr>
          </a:p>
          <a:p>
            <a:endParaRPr lang="fr-FR" sz="3600" b="1" dirty="0">
              <a:solidFill>
                <a:schemeClr val="accent1"/>
              </a:solidFill>
            </a:endParaRPr>
          </a:p>
          <a:p>
            <a:r>
              <a:rPr lang="fr-FR" sz="3600" b="1" dirty="0">
                <a:solidFill>
                  <a:schemeClr val="accent1"/>
                </a:solidFill>
              </a:rPr>
              <a:t>               </a:t>
            </a:r>
            <a:endParaRPr lang="fr-FR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500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94F62-DAE2-C1EF-84B0-37823C33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90E1830-6047-9427-5BA1-1727278D44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982" y="0"/>
            <a:ext cx="1307018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AE54F85-1617-1EB3-958F-8C2235A29337}"/>
              </a:ext>
            </a:extLst>
          </p:cNvPr>
          <p:cNvSpPr txBox="1"/>
          <p:nvPr/>
        </p:nvSpPr>
        <p:spPr>
          <a:xfrm>
            <a:off x="851143" y="80304"/>
            <a:ext cx="121920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fr-FR" sz="6000" b="1" dirty="0">
                <a:solidFill>
                  <a:schemeClr val="accent2"/>
                </a:solidFill>
              </a:rPr>
              <a:t>聚会结束</a:t>
            </a:r>
            <a:r>
              <a:rPr lang="fr-FR" altLang="zh-CN" sz="6000" b="1" dirty="0">
                <a:solidFill>
                  <a:schemeClr val="accent2"/>
                </a:solidFill>
              </a:rPr>
              <a:t>—</a:t>
            </a:r>
            <a:r>
              <a:rPr lang="zh-CN" altLang="fr-FR" sz="6000" b="1" dirty="0">
                <a:solidFill>
                  <a:schemeClr val="accent2"/>
                </a:solidFill>
              </a:rPr>
              <a:t>彼此祝福后散会</a:t>
            </a:r>
          </a:p>
          <a:p>
            <a:r>
              <a:rPr lang="fr-FR" altLang="zh-CN" sz="3600" b="1" dirty="0"/>
              <a:t>   </a:t>
            </a:r>
          </a:p>
          <a:p>
            <a:r>
              <a:rPr lang="fr-FR" altLang="zh-CN" sz="3600" b="1" dirty="0"/>
              <a:t>      </a:t>
            </a:r>
            <a:r>
              <a:rPr lang="fr-FR" altLang="zh-CN" sz="3600" b="1" dirty="0">
                <a:solidFill>
                  <a:srgbClr val="C00000"/>
                </a:solidFill>
              </a:rPr>
              <a:t>=</a:t>
            </a:r>
            <a:r>
              <a:rPr lang="zh-CN" altLang="fr-FR" sz="3600" b="1" dirty="0">
                <a:solidFill>
                  <a:srgbClr val="C00000"/>
                </a:solidFill>
              </a:rPr>
              <a:t>请大家留步享用爱宴晚餐</a:t>
            </a:r>
            <a:r>
              <a:rPr lang="fr-FR" altLang="zh-CN" sz="3600" b="1" dirty="0">
                <a:solidFill>
                  <a:srgbClr val="C00000"/>
                </a:solidFill>
              </a:rPr>
              <a:t>: 18:00 </a:t>
            </a:r>
            <a:r>
              <a:rPr lang="zh-CN" altLang="fr-FR" sz="3600" b="1" dirty="0">
                <a:solidFill>
                  <a:srgbClr val="C00000"/>
                </a:solidFill>
              </a:rPr>
              <a:t>开饭</a:t>
            </a:r>
          </a:p>
          <a:p>
            <a:r>
              <a:rPr lang="fr-FR" altLang="zh-CN" sz="3600" b="1" dirty="0"/>
              <a:t>      </a:t>
            </a:r>
            <a:r>
              <a:rPr lang="fr-FR" altLang="zh-CN" sz="3600" b="1" dirty="0">
                <a:solidFill>
                  <a:srgbClr val="C00000"/>
                </a:solidFill>
              </a:rPr>
              <a:t>= </a:t>
            </a:r>
            <a:r>
              <a:rPr lang="zh-CN" altLang="fr-FR" sz="3600" b="1" dirty="0">
                <a:solidFill>
                  <a:srgbClr val="C00000"/>
                </a:solidFill>
              </a:rPr>
              <a:t>信望爱基督之家教会事工表</a:t>
            </a:r>
            <a:r>
              <a:rPr lang="fr-FR" altLang="zh-CN" sz="3600" b="1" dirty="0">
                <a:solidFill>
                  <a:srgbClr val="C00000"/>
                </a:solidFill>
              </a:rPr>
              <a:t>:</a:t>
            </a:r>
            <a:r>
              <a:rPr lang="fr-FR" altLang="zh-CN" sz="3600" b="1" dirty="0"/>
              <a:t> </a:t>
            </a:r>
          </a:p>
          <a:p>
            <a:r>
              <a:rPr lang="zh-CN" altLang="fr-FR" sz="2800" b="1" dirty="0">
                <a:solidFill>
                  <a:srgbClr val="002060"/>
                </a:solidFill>
              </a:rPr>
              <a:t>                           学法文小组</a:t>
            </a:r>
            <a:r>
              <a:rPr lang="fr-FR" altLang="zh-CN" sz="2800" b="1" dirty="0">
                <a:solidFill>
                  <a:srgbClr val="002060"/>
                </a:solidFill>
              </a:rPr>
              <a:t>–</a:t>
            </a:r>
            <a:r>
              <a:rPr lang="zh-CN" altLang="fr-FR" sz="2800" b="1" dirty="0">
                <a:solidFill>
                  <a:srgbClr val="002060"/>
                </a:solidFill>
              </a:rPr>
              <a:t>星期天 </a:t>
            </a:r>
            <a:r>
              <a:rPr lang="fr-FR" altLang="zh-CN" sz="2800" b="1" dirty="0">
                <a:solidFill>
                  <a:srgbClr val="002060"/>
                </a:solidFill>
              </a:rPr>
              <a:t>13:30-14:30  </a:t>
            </a:r>
          </a:p>
          <a:p>
            <a:r>
              <a:rPr lang="zh-CN" altLang="fr-FR" sz="2800" b="1" dirty="0">
                <a:solidFill>
                  <a:srgbClr val="002060"/>
                </a:solidFill>
              </a:rPr>
              <a:t>                           主日崇拜</a:t>
            </a:r>
            <a:r>
              <a:rPr lang="fr-FR" altLang="zh-CN" sz="2800" b="1" dirty="0">
                <a:solidFill>
                  <a:srgbClr val="002060"/>
                </a:solidFill>
              </a:rPr>
              <a:t>–</a:t>
            </a:r>
            <a:r>
              <a:rPr lang="zh-CN" altLang="fr-FR" sz="2800" b="1" dirty="0">
                <a:solidFill>
                  <a:srgbClr val="002060"/>
                </a:solidFill>
              </a:rPr>
              <a:t>星期天     </a:t>
            </a:r>
            <a:r>
              <a:rPr lang="fr-FR" altLang="zh-CN" sz="2800" b="1" dirty="0">
                <a:solidFill>
                  <a:srgbClr val="002060"/>
                </a:solidFill>
              </a:rPr>
              <a:t>15:00-17:00</a:t>
            </a:r>
            <a:r>
              <a:rPr lang="zh-CN" altLang="fr-FR" sz="2800" b="1" dirty="0">
                <a:solidFill>
                  <a:srgbClr val="002060"/>
                </a:solidFill>
              </a:rPr>
              <a:t>                           </a:t>
            </a:r>
            <a:endParaRPr lang="fr-FR" altLang="zh-CN" sz="2800" b="1" dirty="0">
              <a:solidFill>
                <a:srgbClr val="002060"/>
              </a:solidFill>
            </a:endParaRPr>
          </a:p>
          <a:p>
            <a:r>
              <a:rPr lang="fr-FR" altLang="zh-CN" sz="2800" b="1" dirty="0">
                <a:solidFill>
                  <a:srgbClr val="002060"/>
                </a:solidFill>
              </a:rPr>
              <a:t>						</a:t>
            </a:r>
            <a:r>
              <a:rPr lang="zh-CN" altLang="fr-FR" sz="2800" b="1" dirty="0">
                <a:solidFill>
                  <a:srgbClr val="002060"/>
                </a:solidFill>
              </a:rPr>
              <a:t>旷野小组</a:t>
            </a:r>
            <a:r>
              <a:rPr lang="fr-FR" altLang="zh-CN" sz="2800" b="1" dirty="0">
                <a:solidFill>
                  <a:srgbClr val="002060"/>
                </a:solidFill>
              </a:rPr>
              <a:t>–</a:t>
            </a:r>
            <a:r>
              <a:rPr lang="zh-CN" altLang="fr-FR" sz="2800" b="1" dirty="0">
                <a:solidFill>
                  <a:srgbClr val="002060"/>
                </a:solidFill>
              </a:rPr>
              <a:t>星期三     </a:t>
            </a:r>
            <a:r>
              <a:rPr lang="fr-FR" altLang="zh-CN" sz="2800" b="1" dirty="0">
                <a:solidFill>
                  <a:srgbClr val="002060"/>
                </a:solidFill>
              </a:rPr>
              <a:t>20:30-22:30</a:t>
            </a:r>
          </a:p>
          <a:p>
            <a:r>
              <a:rPr lang="zh-CN" altLang="fr-FR" sz="2800" b="1" dirty="0">
                <a:solidFill>
                  <a:srgbClr val="002060"/>
                </a:solidFill>
              </a:rPr>
              <a:t>                           荒漠小组</a:t>
            </a:r>
            <a:r>
              <a:rPr lang="fr-FR" altLang="zh-CN" sz="2800" b="1" dirty="0">
                <a:solidFill>
                  <a:srgbClr val="002060"/>
                </a:solidFill>
              </a:rPr>
              <a:t>–</a:t>
            </a:r>
            <a:r>
              <a:rPr lang="zh-CN" altLang="fr-FR" sz="2800" b="1" dirty="0">
                <a:solidFill>
                  <a:srgbClr val="002060"/>
                </a:solidFill>
              </a:rPr>
              <a:t>星期四     </a:t>
            </a:r>
            <a:r>
              <a:rPr lang="fr-FR" altLang="zh-CN" sz="2800" b="1" dirty="0">
                <a:solidFill>
                  <a:srgbClr val="002060"/>
                </a:solidFill>
              </a:rPr>
              <a:t>20:00-21:30 ( </a:t>
            </a:r>
            <a:r>
              <a:rPr lang="zh-CN" altLang="fr-FR" sz="2800" b="1" dirty="0">
                <a:solidFill>
                  <a:srgbClr val="002060"/>
                </a:solidFill>
              </a:rPr>
              <a:t>线上</a:t>
            </a:r>
            <a:r>
              <a:rPr lang="fr-FR" altLang="zh-CN" sz="2800" b="1" dirty="0">
                <a:solidFill>
                  <a:srgbClr val="002060"/>
                </a:solidFill>
              </a:rPr>
              <a:t>)</a:t>
            </a:r>
          </a:p>
          <a:p>
            <a:r>
              <a:rPr lang="fr-FR" altLang="zh-CN" sz="2800" b="1" dirty="0">
                <a:solidFill>
                  <a:srgbClr val="002060"/>
                </a:solidFill>
              </a:rPr>
              <a:t>                           </a:t>
            </a:r>
            <a:r>
              <a:rPr lang="zh-CN" altLang="fr-FR" sz="2800" b="1" dirty="0">
                <a:solidFill>
                  <a:srgbClr val="002060"/>
                </a:solidFill>
              </a:rPr>
              <a:t>祷告小组</a:t>
            </a:r>
            <a:r>
              <a:rPr lang="fr-FR" altLang="zh-CN" sz="2800" b="1" dirty="0">
                <a:solidFill>
                  <a:srgbClr val="002060"/>
                </a:solidFill>
              </a:rPr>
              <a:t>- </a:t>
            </a:r>
            <a:r>
              <a:rPr lang="zh-CN" altLang="fr-FR" sz="2800" b="1" dirty="0">
                <a:solidFill>
                  <a:srgbClr val="002060"/>
                </a:solidFill>
              </a:rPr>
              <a:t>星期六    </a:t>
            </a:r>
            <a:r>
              <a:rPr lang="fr-FR" altLang="zh-CN" sz="2800" b="1" dirty="0">
                <a:solidFill>
                  <a:srgbClr val="002060"/>
                </a:solidFill>
              </a:rPr>
              <a:t>16:00-18:00</a:t>
            </a:r>
          </a:p>
          <a:p>
            <a:r>
              <a:rPr lang="fr-FR" altLang="zh-CN" sz="3600" b="1" dirty="0">
                <a:solidFill>
                  <a:schemeClr val="accent2"/>
                </a:solidFill>
              </a:rPr>
              <a:t>        </a:t>
            </a:r>
          </a:p>
          <a:p>
            <a:r>
              <a:rPr lang="fr-FR" altLang="zh-CN" sz="3600" b="1" dirty="0">
                <a:solidFill>
                  <a:schemeClr val="accent2"/>
                </a:solidFill>
              </a:rPr>
              <a:t>        </a:t>
            </a:r>
            <a:r>
              <a:rPr lang="zh-CN" altLang="fr-FR" sz="3600" b="1" dirty="0">
                <a:solidFill>
                  <a:schemeClr val="accent2"/>
                </a:solidFill>
              </a:rPr>
              <a:t>诚挚欢迎大家再来</a:t>
            </a:r>
            <a:r>
              <a:rPr lang="fr-FR" altLang="zh-CN" sz="3600" b="1" dirty="0">
                <a:solidFill>
                  <a:schemeClr val="accent2"/>
                </a:solidFill>
              </a:rPr>
              <a:t>, </a:t>
            </a:r>
            <a:r>
              <a:rPr lang="zh-CN" altLang="fr-FR" sz="3600" b="1" dirty="0">
                <a:solidFill>
                  <a:schemeClr val="accent2"/>
                </a:solidFill>
              </a:rPr>
              <a:t>一起认识基督耶稣</a:t>
            </a:r>
            <a:endParaRPr lang="fr-FR" sz="3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7477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5295</Words>
  <Application>Microsoft Office PowerPoint</Application>
  <PresentationFormat>Grand écran</PresentationFormat>
  <Paragraphs>211</Paragraphs>
  <Slides>24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4" baseType="lpstr">
      <vt:lpstr>STXingkai</vt:lpstr>
      <vt:lpstr>华文中宋</vt:lpstr>
      <vt:lpstr>幼圆</vt:lpstr>
      <vt:lpstr>Algerian</vt:lpstr>
      <vt:lpstr>Arial</vt:lpstr>
      <vt:lpstr>Calibri</vt:lpstr>
      <vt:lpstr>Century Gothic</vt:lpstr>
      <vt:lpstr>Matura MT Script Capitals</vt:lpstr>
      <vt:lpstr>Wingdings 3</vt:lpstr>
      <vt:lpstr>Brin</vt:lpstr>
      <vt:lpstr>Présentation PowerPoint</vt:lpstr>
      <vt:lpstr>         宣召经文提后书  2：21 </vt:lpstr>
      <vt:lpstr>         敬拜赞美    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主日证道:                                                                 同心合意，兴旺福音。生命成长，建立教会。 以弗所书4:1-32       吳兴隆弟兄 证道, 周国莲宣教士 回应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以弗所书4:1-14 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creator>Microsoft Office User</dc:creator>
  <cp:lastModifiedBy>WANG Zijan (GRDF)</cp:lastModifiedBy>
  <cp:revision>365</cp:revision>
  <dcterms:created xsi:type="dcterms:W3CDTF">2024-11-16T18:47:01Z</dcterms:created>
  <dcterms:modified xsi:type="dcterms:W3CDTF">2026-09-11T19:31:56Z</dcterms:modified>
</cp:coreProperties>
</file>